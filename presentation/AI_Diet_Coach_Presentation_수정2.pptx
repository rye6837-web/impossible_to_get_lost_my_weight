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2" r:id="rId6"/>
    <p:sldId id="279" r:id="rId7"/>
    <p:sldId id="273" r:id="rId8"/>
    <p:sldId id="270" r:id="rId9"/>
    <p:sldId id="275" r:id="rId10"/>
    <p:sldId id="274" r:id="rId11"/>
    <p:sldId id="265" r:id="rId12"/>
    <p:sldId id="280" r:id="rId13"/>
    <p:sldId id="263" r:id="rId14"/>
    <p:sldId id="267" r:id="rId15"/>
    <p:sldId id="269" r:id="rId16"/>
    <p:sldId id="281" r:id="rId17"/>
    <p:sldId id="28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84"/>
    <p:restoredTop sz="94679"/>
  </p:normalViewPr>
  <p:slideViewPr>
    <p:cSldViewPr snapToGrid="0" snapToObjects="1">
      <p:cViewPr varScale="1">
        <p:scale>
          <a:sx n="104" d="100"/>
          <a:sy n="104" d="100"/>
        </p:scale>
        <p:origin x="336"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mpossibletogetlostmyweight-xhh2txvidhdpx2negwnvzy.streamlit.app/"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357" y="0"/>
            <a:ext cx="12191695" cy="6858000"/>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645920"/>
            <a:ext cx="109728" cy="3291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645920"/>
            <a:ext cx="10332720" cy="1249060"/>
          </a:xfrm>
          <a:prstGeom prst="rect">
            <a:avLst/>
          </a:prstGeom>
          <a:noFill/>
        </p:spPr>
        <p:txBody>
          <a:bodyPr wrap="square" lIns="0" tIns="0" rIns="0" bIns="0">
            <a:spAutoFit/>
          </a:bodyPr>
          <a:lstStyle/>
          <a:p>
            <a:pPr>
              <a:spcAft>
                <a:spcPts val="1200"/>
              </a:spcAft>
              <a:defRPr sz="1200" b="1">
                <a:solidFill>
                  <a:srgbClr val="10B981"/>
                </a:solidFill>
                <a:latin typeface="Pretendard"/>
              </a:defRPr>
            </a:pPr>
            <a:r>
              <a:rPr dirty="0"/>
              <a:t>AI AGENT PIPELINE &amp; NOTEBOOK VERIFICATION</a:t>
            </a:r>
          </a:p>
          <a:p>
            <a:pPr>
              <a:spcAft>
                <a:spcPts val="1400"/>
              </a:spcAft>
              <a:defRPr sz="3600" b="1">
                <a:solidFill>
                  <a:srgbClr val="F8FAFC"/>
                </a:solidFill>
                <a:latin typeface="Pretendard"/>
              </a:defRPr>
            </a:pPr>
            <a:r>
              <a:rPr dirty="0"/>
              <a:t>🥗 </a:t>
            </a:r>
            <a:r>
              <a:rPr dirty="0">
                <a:solidFill>
                  <a:schemeClr val="tx2">
                    <a:lumMod val="50000"/>
                  </a:schemeClr>
                </a:solidFill>
              </a:rPr>
              <a:t>AI</a:t>
            </a:r>
            <a:r>
              <a:rPr lang="ko-KR" altLang="en-US" dirty="0">
                <a:solidFill>
                  <a:schemeClr val="tx2">
                    <a:lumMod val="50000"/>
                  </a:schemeClr>
                </a:solidFill>
              </a:rPr>
              <a:t> 영양 </a:t>
            </a:r>
            <a:r>
              <a:rPr lang="ko-KR" altLang="en-US">
                <a:solidFill>
                  <a:schemeClr val="tx2">
                    <a:lumMod val="50000"/>
                  </a:schemeClr>
                </a:solidFill>
              </a:rPr>
              <a:t>및 다이어트 </a:t>
            </a:r>
            <a:r>
              <a:rPr>
                <a:solidFill>
                  <a:schemeClr val="tx2">
                    <a:lumMod val="50000"/>
                  </a:schemeClr>
                </a:solidFill>
              </a:rPr>
              <a:t>코치</a:t>
            </a:r>
            <a:r>
              <a:rPr dirty="0">
                <a:solidFill>
                  <a:schemeClr val="tx2">
                    <a:lumMod val="50000"/>
                  </a:schemeClr>
                </a:solidFill>
              </a:rPr>
              <a:t> </a:t>
            </a:r>
            <a:r>
              <a:rPr dirty="0" err="1">
                <a:solidFill>
                  <a:schemeClr val="tx2">
                    <a:lumMod val="50000"/>
                  </a:schemeClr>
                </a:solidFill>
              </a:rPr>
              <a:t>에이전트</a:t>
            </a:r>
            <a:endParaRPr dirty="0">
              <a:solidFill>
                <a:schemeClr val="tx2">
                  <a:lumMod val="50000"/>
                </a:schemeClr>
              </a:solidFill>
            </a:endParaRPr>
          </a:p>
          <a:p>
            <a:pPr>
              <a:defRPr sz="1150">
                <a:solidFill>
                  <a:srgbClr val="94A3B8"/>
                </a:solidFill>
                <a:latin typeface="Pretendard"/>
              </a:defRPr>
            </a:pPr>
            <a:r>
              <a:rPr dirty="0" err="1">
                <a:solidFill>
                  <a:schemeClr val="tx2">
                    <a:lumMod val="50000"/>
                  </a:schemeClr>
                </a:solidFill>
              </a:rPr>
              <a:t>발표자</a:t>
            </a:r>
            <a:r>
              <a:rPr dirty="0">
                <a:solidFill>
                  <a:schemeClr val="tx2">
                    <a:lumMod val="50000"/>
                  </a:schemeClr>
                </a:solidFill>
              </a:rPr>
              <a:t> : </a:t>
            </a:r>
            <a:r>
              <a:rPr lang="ko-KR" altLang="en-US" dirty="0" err="1">
                <a:solidFill>
                  <a:schemeClr val="tx2">
                    <a:lumMod val="50000"/>
                  </a:schemeClr>
                </a:solidFill>
              </a:rPr>
              <a:t>김남섭</a:t>
            </a:r>
            <a:r>
              <a:rPr lang="ko-KR" altLang="en-US" dirty="0">
                <a:solidFill>
                  <a:schemeClr val="tx2">
                    <a:lumMod val="50000"/>
                  </a:schemeClr>
                </a:solidFill>
              </a:rPr>
              <a:t> </a:t>
            </a:r>
            <a:r>
              <a:rPr dirty="0">
                <a:solidFill>
                  <a:schemeClr val="tx2">
                    <a:lumMod val="50000"/>
                  </a:schemeClr>
                </a:solidFill>
              </a:rPr>
              <a:t>|  </a:t>
            </a:r>
            <a:r>
              <a:rPr dirty="0" err="1">
                <a:solidFill>
                  <a:schemeClr val="tx2">
                    <a:lumMod val="50000"/>
                  </a:schemeClr>
                </a:solidFill>
              </a:rPr>
              <a:t>기술</a:t>
            </a:r>
            <a:r>
              <a:rPr dirty="0">
                <a:solidFill>
                  <a:schemeClr val="tx2">
                    <a:lumMod val="50000"/>
                  </a:schemeClr>
                </a:solidFill>
              </a:rPr>
              <a:t> </a:t>
            </a:r>
            <a:r>
              <a:rPr dirty="0" err="1">
                <a:solidFill>
                  <a:schemeClr val="tx2">
                    <a:lumMod val="50000"/>
                  </a:schemeClr>
                </a:solidFill>
              </a:rPr>
              <a:t>스택</a:t>
            </a:r>
            <a:r>
              <a:rPr dirty="0">
                <a:solidFill>
                  <a:schemeClr val="tx2">
                    <a:lumMod val="50000"/>
                  </a:schemeClr>
                </a:solidFill>
              </a:rPr>
              <a:t> : Gemini Flash · </a:t>
            </a:r>
            <a:r>
              <a:rPr dirty="0" err="1">
                <a:solidFill>
                  <a:schemeClr val="tx2">
                    <a:lumMod val="50000"/>
                  </a:schemeClr>
                </a:solidFill>
              </a:rPr>
              <a:t>LangGraph</a:t>
            </a:r>
            <a:r>
              <a:rPr dirty="0">
                <a:solidFill>
                  <a:schemeClr val="tx2">
                    <a:lumMod val="50000"/>
                  </a:schemeClr>
                </a:solidFill>
              </a:rPr>
              <a:t> · Self-RAG · SQLite · </a:t>
            </a:r>
            <a:r>
              <a:rPr dirty="0" err="1">
                <a:solidFill>
                  <a:schemeClr val="tx2">
                    <a:lumMod val="50000"/>
                  </a:schemeClr>
                </a:solidFill>
              </a:rPr>
              <a:t>Streamlit</a:t>
            </a:r>
            <a:endParaRPr dirty="0">
              <a:solidFill>
                <a:schemeClr val="tx2">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277091"/>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5912" cy="274320"/>
          </a:xfrm>
          <a:prstGeom prst="rect">
            <a:avLst/>
          </a:prstGeom>
          <a:noFill/>
        </p:spPr>
        <p:txBody>
          <a:bodyPr wrap="square" lIns="0" tIns="0" rIns="0" bIns="0">
            <a:spAutoFit/>
          </a:bodyPr>
          <a:lstStyle/>
          <a:p>
            <a:pPr>
              <a:defRPr sz="1050" b="1">
                <a:solidFill>
                  <a:srgbClr val="0066CC"/>
                </a:solidFill>
                <a:latin typeface="Pretendard"/>
              </a:defRPr>
            </a:pPr>
            <a:r>
              <a:t>TABLE OF CONTENTS</a:t>
            </a:r>
          </a:p>
        </p:txBody>
      </p:sp>
      <p:sp>
        <p:nvSpPr>
          <p:cNvPr id="4" name="TextBox 3"/>
          <p:cNvSpPr txBox="1"/>
          <p:nvPr/>
        </p:nvSpPr>
        <p:spPr>
          <a:xfrm>
            <a:off x="731520" y="685800"/>
            <a:ext cx="10725912" cy="411480"/>
          </a:xfrm>
          <a:prstGeom prst="rect">
            <a:avLst/>
          </a:prstGeom>
          <a:noFill/>
        </p:spPr>
        <p:txBody>
          <a:bodyPr wrap="square" lIns="0" tIns="0" rIns="0" bIns="0">
            <a:spAutoFit/>
          </a:bodyPr>
          <a:lstStyle/>
          <a:p>
            <a:pPr>
              <a:defRPr sz="2200" b="1">
                <a:solidFill>
                  <a:srgbClr val="0F172A"/>
                </a:solidFill>
                <a:latin typeface="Pretendard"/>
              </a:defRPr>
            </a:pPr>
            <a:r>
              <a:t>프레젠테이션 목차</a:t>
            </a:r>
          </a:p>
        </p:txBody>
      </p:sp>
      <p:sp>
        <p:nvSpPr>
          <p:cNvPr id="5" name="TextBox 4"/>
          <p:cNvSpPr txBox="1"/>
          <p:nvPr/>
        </p:nvSpPr>
        <p:spPr>
          <a:xfrm>
            <a:off x="731520" y="1097280"/>
            <a:ext cx="10725912" cy="320040"/>
          </a:xfrm>
          <a:prstGeom prst="rect">
            <a:avLst/>
          </a:prstGeom>
          <a:noFill/>
        </p:spPr>
        <p:txBody>
          <a:bodyPr wrap="square" lIns="0" tIns="0" rIns="0" bIns="0">
            <a:spAutoFit/>
          </a:bodyPr>
          <a:lstStyle/>
          <a:p>
            <a:pPr>
              <a:defRPr sz="1200">
                <a:solidFill>
                  <a:srgbClr val="64748B"/>
                </a:solidFill>
                <a:latin typeface="Pretendard"/>
              </a:defRPr>
            </a:pPr>
            <a:r>
              <a:t>MVP 1장 요약 ➔ 주피터 셀별 파이프라인 실측 ➔ 실무 트러블슈팅 ➔ 결론</a:t>
            </a:r>
          </a:p>
        </p:txBody>
      </p:sp>
      <p:sp>
        <p:nvSpPr>
          <p:cNvPr id="6" name="Rounded Rectangle 5"/>
          <p:cNvSpPr/>
          <p:nvPr/>
        </p:nvSpPr>
        <p:spPr>
          <a:xfrm>
            <a:off x="731520" y="1600200"/>
            <a:ext cx="251460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819656"/>
            <a:ext cx="2002536" cy="1906291"/>
          </a:xfrm>
          <a:prstGeom prst="rect">
            <a:avLst/>
          </a:prstGeom>
          <a:noFill/>
        </p:spPr>
        <p:txBody>
          <a:bodyPr wrap="square" lIns="0" tIns="0" rIns="0" bIns="0">
            <a:spAutoFit/>
          </a:bodyPr>
          <a:lstStyle/>
          <a:p>
            <a:pPr>
              <a:lnSpc>
                <a:spcPct val="300000"/>
              </a:lnSpc>
              <a:spcAft>
                <a:spcPts val="1000"/>
              </a:spcAft>
              <a:defRPr sz="1500" b="1">
                <a:solidFill>
                  <a:srgbClr val="0F172A"/>
                </a:solidFill>
                <a:latin typeface="Pretendard"/>
              </a:defRPr>
            </a:pPr>
            <a:r>
              <a:rPr dirty="0"/>
              <a:t>Ⅰ. MVP </a:t>
            </a:r>
            <a:r>
              <a:rPr dirty="0" err="1"/>
              <a:t>구동</a:t>
            </a:r>
            <a:r>
              <a:rPr dirty="0"/>
              <a:t> </a:t>
            </a:r>
            <a:r>
              <a:rPr dirty="0" err="1"/>
              <a:t>요약</a:t>
            </a:r>
            <a:endParaRPr dirty="0"/>
          </a:p>
          <a:p>
            <a:pPr>
              <a:lnSpc>
                <a:spcPct val="300000"/>
              </a:lnSpc>
              <a:spcAft>
                <a:spcPts val="600"/>
              </a:spcAft>
              <a:defRPr sz="1200">
                <a:solidFill>
                  <a:srgbClr val="334155"/>
                </a:solidFill>
                <a:latin typeface="Pretendard"/>
              </a:defRPr>
            </a:pPr>
            <a:r>
              <a:rPr dirty="0"/>
              <a:t>•  01. </a:t>
            </a:r>
            <a:r>
              <a:rPr dirty="0" err="1"/>
              <a:t>서비스</a:t>
            </a:r>
            <a:r>
              <a:rPr dirty="0"/>
              <a:t> MVP </a:t>
            </a:r>
            <a:r>
              <a:rPr dirty="0" err="1"/>
              <a:t>구</a:t>
            </a:r>
            <a:r>
              <a:rPr lang="ko-KR" altLang="en-US" dirty="0"/>
              <a:t>동</a:t>
            </a:r>
            <a:endParaRPr dirty="0"/>
          </a:p>
          <a:p>
            <a:pPr>
              <a:lnSpc>
                <a:spcPct val="300000"/>
              </a:lnSpc>
              <a:spcAft>
                <a:spcPts val="600"/>
              </a:spcAft>
              <a:defRPr sz="1200">
                <a:solidFill>
                  <a:srgbClr val="334155"/>
                </a:solidFill>
                <a:latin typeface="Pretendard"/>
              </a:defRPr>
            </a:pPr>
            <a:r>
              <a:rPr dirty="0"/>
              <a:t>•  02. </a:t>
            </a:r>
            <a:r>
              <a:rPr dirty="0" err="1"/>
              <a:t>멀티모달</a:t>
            </a:r>
            <a:r>
              <a:rPr dirty="0"/>
              <a:t> &amp; </a:t>
            </a:r>
            <a:r>
              <a:rPr dirty="0" err="1"/>
              <a:t>순</a:t>
            </a:r>
            <a:r>
              <a:rPr dirty="0"/>
              <a:t> </a:t>
            </a:r>
            <a:r>
              <a:rPr dirty="0" err="1"/>
              <a:t>칼로리</a:t>
            </a:r>
            <a:r>
              <a:rPr dirty="0"/>
              <a:t> UI</a:t>
            </a:r>
          </a:p>
        </p:txBody>
      </p:sp>
      <p:sp>
        <p:nvSpPr>
          <p:cNvPr id="8" name="Rounded Rectangle 7"/>
          <p:cNvSpPr/>
          <p:nvPr/>
        </p:nvSpPr>
        <p:spPr>
          <a:xfrm>
            <a:off x="3465576" y="1600199"/>
            <a:ext cx="2514600" cy="4571999"/>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21608" y="1819656"/>
            <a:ext cx="2002536" cy="3168175"/>
          </a:xfrm>
          <a:prstGeom prst="rect">
            <a:avLst/>
          </a:prstGeom>
          <a:noFill/>
        </p:spPr>
        <p:txBody>
          <a:bodyPr wrap="square" lIns="0" tIns="0" rIns="0" bIns="0">
            <a:spAutoFit/>
          </a:bodyPr>
          <a:lstStyle/>
          <a:p>
            <a:pPr>
              <a:lnSpc>
                <a:spcPct val="300000"/>
              </a:lnSpc>
              <a:spcAft>
                <a:spcPts val="1000"/>
              </a:spcAft>
              <a:defRPr sz="1500" b="1">
                <a:solidFill>
                  <a:srgbClr val="0F172A"/>
                </a:solidFill>
                <a:latin typeface="Pretendard"/>
              </a:defRPr>
            </a:pPr>
            <a:r>
              <a:rPr dirty="0"/>
              <a:t>Ⅱ. </a:t>
            </a:r>
            <a:r>
              <a:rPr dirty="0" err="1"/>
              <a:t>노트북</a:t>
            </a:r>
            <a:r>
              <a:rPr dirty="0"/>
              <a:t> </a:t>
            </a:r>
            <a:r>
              <a:rPr dirty="0" err="1"/>
              <a:t>도구</a:t>
            </a:r>
            <a:r>
              <a:rPr dirty="0"/>
              <a:t> </a:t>
            </a:r>
            <a:r>
              <a:rPr dirty="0" err="1"/>
              <a:t>실측</a:t>
            </a:r>
            <a:endParaRPr dirty="0"/>
          </a:p>
          <a:p>
            <a:pPr>
              <a:lnSpc>
                <a:spcPct val="300000"/>
              </a:lnSpc>
              <a:spcAft>
                <a:spcPts val="600"/>
              </a:spcAft>
              <a:defRPr sz="1200">
                <a:solidFill>
                  <a:srgbClr val="334155"/>
                </a:solidFill>
                <a:latin typeface="Pretendard"/>
              </a:defRPr>
            </a:pPr>
            <a:r>
              <a:rPr dirty="0"/>
              <a:t>•  03. </a:t>
            </a:r>
            <a:r>
              <a:rPr dirty="0" err="1"/>
              <a:t>LangGraph</a:t>
            </a:r>
            <a:r>
              <a:rPr dirty="0"/>
              <a:t> </a:t>
            </a:r>
            <a:r>
              <a:rPr dirty="0" err="1"/>
              <a:t>시각화</a:t>
            </a:r>
            <a:endParaRPr dirty="0"/>
          </a:p>
          <a:p>
            <a:pPr>
              <a:lnSpc>
                <a:spcPct val="300000"/>
              </a:lnSpc>
              <a:spcAft>
                <a:spcPts val="600"/>
              </a:spcAft>
              <a:defRPr sz="1200">
                <a:solidFill>
                  <a:srgbClr val="334155"/>
                </a:solidFill>
                <a:latin typeface="Pretendard"/>
              </a:defRPr>
            </a:pPr>
            <a:r>
              <a:rPr dirty="0"/>
              <a:t>•  04. [Tool 1] </a:t>
            </a:r>
            <a:r>
              <a:rPr dirty="0" err="1"/>
              <a:t>식약처</a:t>
            </a:r>
            <a:r>
              <a:rPr dirty="0"/>
              <a:t> DB</a:t>
            </a:r>
          </a:p>
          <a:p>
            <a:pPr>
              <a:lnSpc>
                <a:spcPct val="300000"/>
              </a:lnSpc>
              <a:spcAft>
                <a:spcPts val="600"/>
              </a:spcAft>
              <a:defRPr sz="1200">
                <a:solidFill>
                  <a:srgbClr val="334155"/>
                </a:solidFill>
                <a:latin typeface="Pretendard"/>
              </a:defRPr>
            </a:pPr>
            <a:r>
              <a:rPr dirty="0"/>
              <a:t>•  05. [Tool 2] METs </a:t>
            </a:r>
            <a:r>
              <a:rPr dirty="0" err="1"/>
              <a:t>운동</a:t>
            </a:r>
            <a:endParaRPr dirty="0"/>
          </a:p>
          <a:p>
            <a:pPr>
              <a:lnSpc>
                <a:spcPct val="300000"/>
              </a:lnSpc>
              <a:spcAft>
                <a:spcPts val="600"/>
              </a:spcAft>
              <a:defRPr sz="1200">
                <a:solidFill>
                  <a:srgbClr val="334155"/>
                </a:solidFill>
                <a:latin typeface="Pretendard"/>
              </a:defRPr>
            </a:pPr>
            <a:r>
              <a:rPr dirty="0"/>
              <a:t>•  06. [Tool 3] </a:t>
            </a:r>
            <a:r>
              <a:rPr dirty="0" err="1"/>
              <a:t>영양</a:t>
            </a:r>
            <a:r>
              <a:rPr dirty="0"/>
              <a:t> RAG</a:t>
            </a:r>
          </a:p>
        </p:txBody>
      </p:sp>
      <p:sp>
        <p:nvSpPr>
          <p:cNvPr id="10" name="Rounded Rectangle 9"/>
          <p:cNvSpPr/>
          <p:nvPr/>
        </p:nvSpPr>
        <p:spPr>
          <a:xfrm>
            <a:off x="6199632" y="1600200"/>
            <a:ext cx="2514600" cy="457199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55664" y="1819656"/>
            <a:ext cx="2002536" cy="2537233"/>
          </a:xfrm>
          <a:prstGeom prst="rect">
            <a:avLst/>
          </a:prstGeom>
          <a:noFill/>
        </p:spPr>
        <p:txBody>
          <a:bodyPr wrap="square" lIns="0" tIns="0" rIns="0" bIns="0">
            <a:spAutoFit/>
          </a:bodyPr>
          <a:lstStyle/>
          <a:p>
            <a:pPr>
              <a:lnSpc>
                <a:spcPct val="300000"/>
              </a:lnSpc>
              <a:spcAft>
                <a:spcPts val="1000"/>
              </a:spcAft>
              <a:defRPr sz="1500" b="1">
                <a:solidFill>
                  <a:srgbClr val="0F172A"/>
                </a:solidFill>
                <a:latin typeface="Pretendard"/>
              </a:defRPr>
            </a:pPr>
            <a:r>
              <a:rPr dirty="0"/>
              <a:t>Ⅲ. </a:t>
            </a:r>
            <a:r>
              <a:rPr dirty="0" err="1"/>
              <a:t>에이전트</a:t>
            </a:r>
            <a:r>
              <a:rPr dirty="0"/>
              <a:t> &amp; Self-RAG</a:t>
            </a:r>
          </a:p>
          <a:p>
            <a:pPr>
              <a:lnSpc>
                <a:spcPct val="300000"/>
              </a:lnSpc>
              <a:spcAft>
                <a:spcPts val="600"/>
              </a:spcAft>
              <a:defRPr sz="1200">
                <a:solidFill>
                  <a:srgbClr val="334155"/>
                </a:solidFill>
                <a:latin typeface="Pretendard"/>
              </a:defRPr>
            </a:pPr>
            <a:r>
              <a:rPr dirty="0"/>
              <a:t>•  07. </a:t>
            </a:r>
            <a:r>
              <a:rPr dirty="0" err="1"/>
              <a:t>식단</a:t>
            </a:r>
            <a:r>
              <a:rPr dirty="0"/>
              <a:t> </a:t>
            </a:r>
            <a:r>
              <a:rPr dirty="0" err="1"/>
              <a:t>분석</a:t>
            </a:r>
            <a:r>
              <a:rPr dirty="0"/>
              <a:t> &amp; MEAL</a:t>
            </a:r>
          </a:p>
          <a:p>
            <a:pPr>
              <a:lnSpc>
                <a:spcPct val="300000"/>
              </a:lnSpc>
              <a:spcAft>
                <a:spcPts val="600"/>
              </a:spcAft>
              <a:defRPr sz="1200">
                <a:solidFill>
                  <a:srgbClr val="334155"/>
                </a:solidFill>
                <a:latin typeface="Pretendard"/>
              </a:defRPr>
            </a:pPr>
            <a:r>
              <a:rPr dirty="0"/>
              <a:t>•  08. </a:t>
            </a:r>
            <a:r>
              <a:rPr dirty="0" err="1"/>
              <a:t>운동</a:t>
            </a:r>
            <a:r>
              <a:rPr dirty="0"/>
              <a:t> </a:t>
            </a:r>
            <a:r>
              <a:rPr dirty="0" err="1"/>
              <a:t>기록</a:t>
            </a:r>
            <a:r>
              <a:rPr dirty="0"/>
              <a:t> &amp; EX</a:t>
            </a:r>
            <a:r>
              <a:rPr lang="en" dirty="0"/>
              <a:t> </a:t>
            </a:r>
          </a:p>
          <a:p>
            <a:pPr>
              <a:lnSpc>
                <a:spcPct val="300000"/>
              </a:lnSpc>
              <a:spcAft>
                <a:spcPts val="600"/>
              </a:spcAft>
              <a:defRPr sz="1200">
                <a:solidFill>
                  <a:srgbClr val="334155"/>
                </a:solidFill>
                <a:latin typeface="Pretendard"/>
              </a:defRPr>
            </a:pPr>
            <a:r>
              <a:rPr lang="en" dirty="0"/>
              <a:t>•  09. Self-RAG 3</a:t>
            </a:r>
            <a:r>
              <a:rPr lang="ko-KR" altLang="en-US" dirty="0"/>
              <a:t>단계</a:t>
            </a:r>
            <a:endParaRPr lang="en" dirty="0"/>
          </a:p>
        </p:txBody>
      </p:sp>
      <p:sp>
        <p:nvSpPr>
          <p:cNvPr id="12" name="Rounded Rectangle 11"/>
          <p:cNvSpPr/>
          <p:nvPr/>
        </p:nvSpPr>
        <p:spPr>
          <a:xfrm>
            <a:off x="8933688" y="1600200"/>
            <a:ext cx="2514600" cy="457199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89720" y="1819656"/>
            <a:ext cx="2002536" cy="2460289"/>
          </a:xfrm>
          <a:prstGeom prst="rect">
            <a:avLst/>
          </a:prstGeom>
          <a:noFill/>
        </p:spPr>
        <p:txBody>
          <a:bodyPr wrap="square" lIns="0" tIns="0" rIns="0" bIns="0">
            <a:spAutoFit/>
          </a:bodyPr>
          <a:lstStyle/>
          <a:p>
            <a:pPr>
              <a:lnSpc>
                <a:spcPct val="300000"/>
              </a:lnSpc>
              <a:spcAft>
                <a:spcPts val="1000"/>
              </a:spcAft>
              <a:defRPr sz="1300" b="1">
                <a:solidFill>
                  <a:srgbClr val="0066CC"/>
                </a:solidFill>
                <a:latin typeface="Pretendard"/>
              </a:defRPr>
            </a:pPr>
            <a:r>
              <a:t>Ⅳ. 피드백 반영 &amp; 고도화 성과</a:t>
            </a:r>
            <a:endParaRPr dirty="0"/>
          </a:p>
          <a:p>
            <a:pPr>
              <a:defRPr sz="1100" b="0">
                <a:solidFill>
                  <a:srgbClr val="0F172A"/>
                </a:solidFill>
                <a:latin typeface="Pretendard"/>
              </a:defRPr>
            </a:pPr>
            <a:r>
              <a:t>•  10. 503/429/404 모델 복원력</a:t>
            </a:r>
          </a:p>
          <a:p>
            <a:pPr>
              <a:defRPr sz="1100" b="1">
                <a:solidFill>
                  <a:srgbClr val="10B981"/>
                </a:solidFill>
                <a:latin typeface="Pretendard"/>
              </a:defRPr>
            </a:pPr>
            <a:r>
              <a:t>•  11. 식약처 FTS5 1.24ms &amp; 하이브리드 RAG</a:t>
            </a:r>
          </a:p>
          <a:p>
            <a:pPr>
              <a:defRPr sz="1100" b="1">
                <a:solidFill>
                  <a:srgbClr val="2997FF"/>
                </a:solidFill>
                <a:latin typeface="Pretendard"/>
              </a:defRPr>
            </a:pPr>
            <a:r>
              <a:t>•  12. ReAct 복합 질문 &amp; 2열 동시 저장 UI</a:t>
            </a:r>
          </a:p>
          <a:p>
            <a:pPr>
              <a:defRPr sz="1100" b="0">
                <a:solidFill>
                  <a:srgbClr val="0F172A"/>
                </a:solidFill>
                <a:latin typeface="Pretendard"/>
              </a:defRPr>
            </a:pPr>
            <a:r>
              <a:t>•  13. 피드백 해결 성과 &amp; Q&amp;A 핵심 답변</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277091"/>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5912" cy="274320"/>
          </a:xfrm>
          <a:prstGeom prst="rect">
            <a:avLst/>
          </a:prstGeom>
          <a:noFill/>
        </p:spPr>
        <p:txBody>
          <a:bodyPr wrap="square" lIns="0" tIns="0" rIns="0" bIns="0">
            <a:spAutoFit/>
          </a:bodyPr>
          <a:lstStyle/>
          <a:p>
            <a:pPr>
              <a:defRPr sz="1050" b="1">
                <a:solidFill>
                  <a:srgbClr val="0066CC"/>
                </a:solidFill>
                <a:latin typeface="Pretendard"/>
              </a:defRPr>
            </a:pPr>
            <a:r>
              <a:rPr dirty="0"/>
              <a:t>MVP DEMONSTRATION</a:t>
            </a:r>
          </a:p>
        </p:txBody>
      </p:sp>
      <p:sp>
        <p:nvSpPr>
          <p:cNvPr id="4" name="TextBox 3"/>
          <p:cNvSpPr txBox="1"/>
          <p:nvPr/>
        </p:nvSpPr>
        <p:spPr>
          <a:xfrm>
            <a:off x="731520" y="685800"/>
            <a:ext cx="10725912" cy="411480"/>
          </a:xfrm>
          <a:prstGeom prst="rect">
            <a:avLst/>
          </a:prstGeom>
          <a:noFill/>
        </p:spPr>
        <p:txBody>
          <a:bodyPr wrap="square" lIns="0" tIns="0" rIns="0" bIns="0">
            <a:spAutoFit/>
          </a:bodyPr>
          <a:lstStyle/>
          <a:p>
            <a:pPr>
              <a:defRPr sz="2200" b="1">
                <a:solidFill>
                  <a:srgbClr val="0F172A"/>
                </a:solidFill>
                <a:latin typeface="Pretendard"/>
              </a:defRPr>
            </a:pPr>
            <a:r>
              <a:rPr dirty="0" err="1"/>
              <a:t>서비스</a:t>
            </a:r>
            <a:r>
              <a:rPr dirty="0"/>
              <a:t> MVP </a:t>
            </a:r>
            <a:r>
              <a:rPr dirty="0" err="1"/>
              <a:t>구동</a:t>
            </a:r>
            <a:r>
              <a:rPr dirty="0"/>
              <a:t> </a:t>
            </a:r>
            <a:r>
              <a:rPr dirty="0" err="1"/>
              <a:t>요약</a:t>
            </a:r>
            <a:r>
              <a:rPr dirty="0"/>
              <a:t> (Live Prototype)</a:t>
            </a:r>
          </a:p>
        </p:txBody>
      </p:sp>
      <p:sp>
        <p:nvSpPr>
          <p:cNvPr id="5" name="TextBox 4"/>
          <p:cNvSpPr txBox="1"/>
          <p:nvPr/>
        </p:nvSpPr>
        <p:spPr>
          <a:xfrm>
            <a:off x="731520" y="1097280"/>
            <a:ext cx="10725912" cy="184666"/>
          </a:xfrm>
          <a:prstGeom prst="rect">
            <a:avLst/>
          </a:prstGeom>
          <a:noFill/>
        </p:spPr>
        <p:txBody>
          <a:bodyPr wrap="square" lIns="0" tIns="0" rIns="0" bIns="0">
            <a:spAutoFit/>
          </a:bodyPr>
          <a:lstStyle/>
          <a:p>
            <a:pPr>
              <a:defRPr sz="1200">
                <a:solidFill>
                  <a:srgbClr val="64748B"/>
                </a:solidFill>
                <a:latin typeface="Pretendard"/>
              </a:defRPr>
            </a:pPr>
            <a:r>
              <a:rPr lang="en" dirty="0">
                <a:hlinkClick r:id="rId2"/>
              </a:rPr>
              <a:t>https://impossibletogetlostmyweight-xhh2txvidhdpx2negwnvzy.streamlit.app/</a:t>
            </a:r>
            <a:endParaRPr dirty="0"/>
          </a:p>
        </p:txBody>
      </p:sp>
      <p:sp>
        <p:nvSpPr>
          <p:cNvPr id="6" name="Rounded Rectangle 5"/>
          <p:cNvSpPr/>
          <p:nvPr/>
        </p:nvSpPr>
        <p:spPr>
          <a:xfrm>
            <a:off x="731520" y="1600200"/>
            <a:ext cx="5230368" cy="3108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819656"/>
            <a:ext cx="4718304" cy="1785682"/>
          </a:xfrm>
          <a:prstGeom prst="rect">
            <a:avLst/>
          </a:prstGeom>
          <a:noFill/>
        </p:spPr>
        <p:txBody>
          <a:bodyPr wrap="square" lIns="0" tIns="0" rIns="0" bIns="0">
            <a:spAutoFit/>
          </a:bodyPr>
          <a:lstStyle/>
          <a:p>
            <a:pPr>
              <a:lnSpc>
                <a:spcPct val="150000"/>
              </a:lnSpc>
              <a:spcAft>
                <a:spcPts val="1000"/>
              </a:spcAft>
              <a:defRPr sz="1500" b="1">
                <a:solidFill>
                  <a:srgbClr val="0F172A"/>
                </a:solidFill>
                <a:latin typeface="Pretendard"/>
              </a:defRPr>
            </a:pPr>
            <a:r>
              <a:rPr dirty="0"/>
              <a:t>🖥️ </a:t>
            </a:r>
            <a:r>
              <a:rPr dirty="0" err="1"/>
              <a:t>클라이언트</a:t>
            </a:r>
            <a:r>
              <a:rPr dirty="0"/>
              <a:t> </a:t>
            </a:r>
            <a:r>
              <a:rPr dirty="0" err="1"/>
              <a:t>핵심</a:t>
            </a:r>
            <a:r>
              <a:rPr dirty="0"/>
              <a:t> </a:t>
            </a:r>
            <a:r>
              <a:rPr dirty="0" err="1"/>
              <a:t>구동</a:t>
            </a:r>
            <a:r>
              <a:rPr dirty="0"/>
              <a:t> </a:t>
            </a:r>
            <a:r>
              <a:rPr dirty="0" err="1"/>
              <a:t>화면</a:t>
            </a:r>
            <a:endParaRPr dirty="0"/>
          </a:p>
          <a:p>
            <a:pPr>
              <a:lnSpc>
                <a:spcPct val="150000"/>
              </a:lnSpc>
              <a:spcAft>
                <a:spcPts val="600"/>
              </a:spcAft>
              <a:defRPr sz="1200">
                <a:solidFill>
                  <a:srgbClr val="334155"/>
                </a:solidFill>
                <a:latin typeface="Pretendard"/>
              </a:defRPr>
            </a:pPr>
            <a:r>
              <a:rPr dirty="0"/>
              <a:t>•  📸 </a:t>
            </a:r>
            <a:r>
              <a:rPr dirty="0" err="1"/>
              <a:t>멀티모달</a:t>
            </a:r>
            <a:r>
              <a:rPr dirty="0"/>
              <a:t> </a:t>
            </a:r>
            <a:r>
              <a:rPr dirty="0" err="1"/>
              <a:t>식단</a:t>
            </a:r>
            <a:r>
              <a:rPr dirty="0"/>
              <a:t> </a:t>
            </a:r>
            <a:r>
              <a:rPr dirty="0" err="1"/>
              <a:t>인식</a:t>
            </a:r>
            <a:r>
              <a:rPr dirty="0"/>
              <a:t>: </a:t>
            </a:r>
            <a:r>
              <a:rPr dirty="0" err="1"/>
              <a:t>카메라</a:t>
            </a:r>
            <a:r>
              <a:rPr dirty="0"/>
              <a:t> </a:t>
            </a:r>
            <a:r>
              <a:rPr dirty="0" err="1"/>
              <a:t>촬영</a:t>
            </a:r>
            <a:r>
              <a:rPr dirty="0"/>
              <a:t> </a:t>
            </a:r>
            <a:r>
              <a:rPr dirty="0" err="1"/>
              <a:t>및</a:t>
            </a:r>
            <a:r>
              <a:rPr dirty="0"/>
              <a:t> </a:t>
            </a:r>
            <a:r>
              <a:rPr dirty="0" err="1"/>
              <a:t>사진</a:t>
            </a:r>
            <a:r>
              <a:rPr dirty="0"/>
              <a:t> </a:t>
            </a:r>
            <a:r>
              <a:rPr dirty="0" err="1"/>
              <a:t>업로드</a:t>
            </a:r>
            <a:r>
              <a:rPr dirty="0"/>
              <a:t> </a:t>
            </a:r>
            <a:r>
              <a:rPr dirty="0" err="1"/>
              <a:t>분석</a:t>
            </a:r>
            <a:endParaRPr dirty="0"/>
          </a:p>
          <a:p>
            <a:pPr>
              <a:lnSpc>
                <a:spcPct val="150000"/>
              </a:lnSpc>
              <a:spcAft>
                <a:spcPts val="600"/>
              </a:spcAft>
              <a:defRPr sz="1200">
                <a:solidFill>
                  <a:srgbClr val="334155"/>
                </a:solidFill>
                <a:latin typeface="Pretendard"/>
              </a:defRPr>
            </a:pPr>
            <a:r>
              <a:rPr dirty="0"/>
              <a:t>•  🍱 HIL </a:t>
            </a:r>
            <a:r>
              <a:rPr dirty="0" err="1"/>
              <a:t>스마트</a:t>
            </a:r>
            <a:r>
              <a:rPr dirty="0"/>
              <a:t> </a:t>
            </a:r>
            <a:r>
              <a:rPr dirty="0" err="1"/>
              <a:t>카드</a:t>
            </a:r>
            <a:r>
              <a:rPr dirty="0"/>
              <a:t>: AI </a:t>
            </a:r>
            <a:r>
              <a:rPr dirty="0" err="1"/>
              <a:t>분석</a:t>
            </a:r>
            <a:r>
              <a:rPr dirty="0"/>
              <a:t> </a:t>
            </a:r>
            <a:r>
              <a:rPr dirty="0" err="1"/>
              <a:t>결과</a:t>
            </a:r>
            <a:r>
              <a:rPr dirty="0"/>
              <a:t> </a:t>
            </a:r>
            <a:r>
              <a:rPr dirty="0" err="1"/>
              <a:t>확인</a:t>
            </a:r>
            <a:r>
              <a:rPr dirty="0"/>
              <a:t> </a:t>
            </a:r>
            <a:r>
              <a:rPr dirty="0" err="1"/>
              <a:t>후</a:t>
            </a:r>
            <a:r>
              <a:rPr dirty="0"/>
              <a:t> </a:t>
            </a:r>
            <a:r>
              <a:rPr dirty="0" err="1"/>
              <a:t>원클릭</a:t>
            </a:r>
            <a:r>
              <a:rPr dirty="0"/>
              <a:t> DB </a:t>
            </a:r>
            <a:r>
              <a:rPr dirty="0" err="1"/>
              <a:t>저장</a:t>
            </a:r>
            <a:endParaRPr dirty="0"/>
          </a:p>
          <a:p>
            <a:pPr>
              <a:lnSpc>
                <a:spcPct val="150000"/>
              </a:lnSpc>
              <a:spcAft>
                <a:spcPts val="600"/>
              </a:spcAft>
              <a:defRPr sz="1200">
                <a:solidFill>
                  <a:srgbClr val="334155"/>
                </a:solidFill>
                <a:latin typeface="Pretendard"/>
              </a:defRPr>
            </a:pPr>
            <a:r>
              <a:rPr dirty="0"/>
              <a:t>•  📊 </a:t>
            </a:r>
            <a:r>
              <a:rPr dirty="0" err="1"/>
              <a:t>순</a:t>
            </a:r>
            <a:r>
              <a:rPr dirty="0"/>
              <a:t> </a:t>
            </a:r>
            <a:r>
              <a:rPr dirty="0" err="1"/>
              <a:t>칼로리</a:t>
            </a:r>
            <a:r>
              <a:rPr dirty="0"/>
              <a:t> </a:t>
            </a:r>
            <a:r>
              <a:rPr dirty="0" err="1"/>
              <a:t>대시보드</a:t>
            </a:r>
            <a:r>
              <a:rPr dirty="0"/>
              <a:t>: </a:t>
            </a:r>
            <a:r>
              <a:rPr dirty="0" err="1"/>
              <a:t>섭취량</a:t>
            </a:r>
            <a:r>
              <a:rPr dirty="0"/>
              <a:t> - </a:t>
            </a:r>
            <a:r>
              <a:rPr dirty="0" err="1"/>
              <a:t>소모량</a:t>
            </a:r>
            <a:r>
              <a:rPr dirty="0"/>
              <a:t> </a:t>
            </a:r>
            <a:r>
              <a:rPr dirty="0" err="1"/>
              <a:t>실시간</a:t>
            </a:r>
            <a:r>
              <a:rPr dirty="0"/>
              <a:t> </a:t>
            </a:r>
            <a:r>
              <a:rPr dirty="0" err="1"/>
              <a:t>게이지</a:t>
            </a:r>
            <a:r>
              <a:rPr dirty="0"/>
              <a:t> </a:t>
            </a:r>
            <a:r>
              <a:rPr dirty="0" err="1"/>
              <a:t>연동</a:t>
            </a:r>
            <a:endParaRPr dirty="0"/>
          </a:p>
          <a:p>
            <a:pPr>
              <a:lnSpc>
                <a:spcPct val="150000"/>
              </a:lnSpc>
              <a:spcAft>
                <a:spcPts val="600"/>
              </a:spcAft>
              <a:defRPr sz="1200">
                <a:solidFill>
                  <a:srgbClr val="334155"/>
                </a:solidFill>
                <a:latin typeface="Pretendard"/>
              </a:defRPr>
            </a:pPr>
            <a:r>
              <a:rPr dirty="0"/>
              <a:t>•  📱 </a:t>
            </a:r>
            <a:r>
              <a:rPr dirty="0" err="1"/>
              <a:t>텔레그램</a:t>
            </a:r>
            <a:r>
              <a:rPr dirty="0"/>
              <a:t> </a:t>
            </a:r>
            <a:r>
              <a:rPr dirty="0" err="1"/>
              <a:t>월간</a:t>
            </a:r>
            <a:r>
              <a:rPr dirty="0"/>
              <a:t> </a:t>
            </a:r>
            <a:r>
              <a:rPr dirty="0" err="1"/>
              <a:t>결산</a:t>
            </a:r>
            <a:r>
              <a:rPr dirty="0"/>
              <a:t>: </a:t>
            </a:r>
            <a:r>
              <a:rPr dirty="0" err="1"/>
              <a:t>매월</a:t>
            </a:r>
            <a:r>
              <a:rPr dirty="0"/>
              <a:t> 1일 </a:t>
            </a:r>
            <a:r>
              <a:rPr dirty="0" err="1"/>
              <a:t>자정</a:t>
            </a:r>
            <a:r>
              <a:rPr dirty="0"/>
              <a:t> </a:t>
            </a:r>
            <a:r>
              <a:rPr dirty="0" err="1"/>
              <a:t>통계</a:t>
            </a:r>
            <a:r>
              <a:rPr dirty="0"/>
              <a:t> &amp; </a:t>
            </a:r>
            <a:r>
              <a:rPr dirty="0" err="1"/>
              <a:t>그래프</a:t>
            </a:r>
            <a:r>
              <a:rPr dirty="0"/>
              <a:t> </a:t>
            </a:r>
            <a:r>
              <a:rPr dirty="0" err="1"/>
              <a:t>자동</a:t>
            </a:r>
            <a:r>
              <a:rPr dirty="0"/>
              <a:t> </a:t>
            </a:r>
            <a:r>
              <a:rPr dirty="0" err="1"/>
              <a:t>전송</a:t>
            </a:r>
            <a:endParaRPr dirty="0"/>
          </a:p>
        </p:txBody>
      </p:sp>
      <p:sp>
        <p:nvSpPr>
          <p:cNvPr id="8" name="Rounded Rectangle 7"/>
          <p:cNvSpPr/>
          <p:nvPr/>
        </p:nvSpPr>
        <p:spPr>
          <a:xfrm>
            <a:off x="6227064" y="160020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64224" y="1737360"/>
            <a:ext cx="2194560" cy="1188720"/>
          </a:xfrm>
          <a:prstGeom prst="rect">
            <a:avLst/>
          </a:prstGeom>
          <a:noFill/>
        </p:spPr>
        <p:txBody>
          <a:bodyPr wrap="square" lIns="0" tIns="0" rIns="0" bIns="0">
            <a:spAutoFit/>
          </a:bodyPr>
          <a:lstStyle/>
          <a:p>
            <a:pPr>
              <a:spcAft>
                <a:spcPts val="200"/>
              </a:spcAft>
              <a:defRPr sz="1050">
                <a:solidFill>
                  <a:srgbClr val="64748B"/>
                </a:solidFill>
                <a:latin typeface="Pretendard"/>
              </a:defRPr>
            </a:pPr>
            <a:r>
              <a:t>웹 프레임워크</a:t>
            </a:r>
          </a:p>
          <a:p>
            <a:pPr>
              <a:defRPr sz="1800" b="1">
                <a:solidFill>
                  <a:srgbClr val="0066CC"/>
                </a:solidFill>
                <a:latin typeface="Pretendard"/>
              </a:defRPr>
            </a:pPr>
            <a:r>
              <a:t>Streamlit</a:t>
            </a:r>
          </a:p>
          <a:p>
            <a:pPr>
              <a:defRPr sz="950">
                <a:solidFill>
                  <a:srgbClr val="334155"/>
                </a:solidFill>
                <a:latin typeface="Pretendard"/>
              </a:defRPr>
            </a:pPr>
            <a:r>
              <a:t>반응형 인터랙티브 웹 UI</a:t>
            </a:r>
          </a:p>
        </p:txBody>
      </p:sp>
      <p:sp>
        <p:nvSpPr>
          <p:cNvPr id="10" name="Rounded Rectangle 9"/>
          <p:cNvSpPr/>
          <p:nvPr/>
        </p:nvSpPr>
        <p:spPr>
          <a:xfrm>
            <a:off x="8988552" y="160020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25712" y="1737360"/>
            <a:ext cx="2194560" cy="1188720"/>
          </a:xfrm>
          <a:prstGeom prst="rect">
            <a:avLst/>
          </a:prstGeom>
          <a:noFill/>
        </p:spPr>
        <p:txBody>
          <a:bodyPr wrap="square" lIns="0" tIns="0" rIns="0" bIns="0">
            <a:spAutoFit/>
          </a:bodyPr>
          <a:lstStyle/>
          <a:p>
            <a:pPr>
              <a:spcAft>
                <a:spcPts val="200"/>
              </a:spcAft>
              <a:defRPr sz="1050">
                <a:solidFill>
                  <a:srgbClr val="64748B"/>
                </a:solidFill>
                <a:latin typeface="Pretendard"/>
              </a:defRPr>
            </a:pPr>
            <a:r>
              <a:rPr dirty="0" err="1"/>
              <a:t>인공지능</a:t>
            </a:r>
            <a:r>
              <a:rPr dirty="0"/>
              <a:t> </a:t>
            </a:r>
            <a:r>
              <a:rPr dirty="0" err="1"/>
              <a:t>모델</a:t>
            </a:r>
            <a:endParaRPr dirty="0"/>
          </a:p>
          <a:p>
            <a:pPr>
              <a:defRPr sz="1800" b="1">
                <a:solidFill>
                  <a:srgbClr val="10B981"/>
                </a:solidFill>
                <a:latin typeface="Pretendard"/>
              </a:defRPr>
            </a:pPr>
            <a:r>
              <a:rPr dirty="0"/>
              <a:t>Gemini Flash</a:t>
            </a:r>
          </a:p>
          <a:p>
            <a:pPr>
              <a:defRPr sz="950">
                <a:solidFill>
                  <a:srgbClr val="334155"/>
                </a:solidFill>
                <a:latin typeface="Pretendard"/>
              </a:defRPr>
            </a:pPr>
            <a:r>
              <a:rPr dirty="0" err="1"/>
              <a:t>초고속</a:t>
            </a:r>
            <a:r>
              <a:rPr dirty="0"/>
              <a:t> </a:t>
            </a:r>
            <a:r>
              <a:rPr dirty="0" err="1"/>
              <a:t>멀티모달</a:t>
            </a:r>
            <a:r>
              <a:rPr dirty="0"/>
              <a:t> &amp; </a:t>
            </a:r>
            <a:r>
              <a:rPr dirty="0" err="1"/>
              <a:t>도구</a:t>
            </a:r>
            <a:r>
              <a:rPr dirty="0"/>
              <a:t> </a:t>
            </a:r>
            <a:r>
              <a:rPr dirty="0" err="1"/>
              <a:t>바인딩</a:t>
            </a:r>
            <a:endParaRPr dirty="0"/>
          </a:p>
        </p:txBody>
      </p:sp>
      <p:sp>
        <p:nvSpPr>
          <p:cNvPr id="12" name="Rounded Rectangle 11"/>
          <p:cNvSpPr/>
          <p:nvPr/>
        </p:nvSpPr>
        <p:spPr>
          <a:xfrm>
            <a:off x="6227064" y="32461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64224" y="3383280"/>
            <a:ext cx="2194560" cy="1188720"/>
          </a:xfrm>
          <a:prstGeom prst="rect">
            <a:avLst/>
          </a:prstGeom>
          <a:noFill/>
        </p:spPr>
        <p:txBody>
          <a:bodyPr wrap="square" lIns="0" tIns="0" rIns="0" bIns="0">
            <a:spAutoFit/>
          </a:bodyPr>
          <a:lstStyle/>
          <a:p>
            <a:pPr>
              <a:spcAft>
                <a:spcPts val="200"/>
              </a:spcAft>
              <a:defRPr sz="1050">
                <a:solidFill>
                  <a:srgbClr val="64748B"/>
                </a:solidFill>
                <a:latin typeface="Pretendard"/>
              </a:defRPr>
            </a:pPr>
            <a:r>
              <a:rPr dirty="0" err="1"/>
              <a:t>데이터베이스</a:t>
            </a:r>
            <a:endParaRPr dirty="0"/>
          </a:p>
          <a:p>
            <a:pPr>
              <a:defRPr sz="1800" b="1">
                <a:solidFill>
                  <a:srgbClr val="8B5CF6"/>
                </a:solidFill>
                <a:latin typeface="Pretendard"/>
              </a:defRPr>
            </a:pPr>
            <a:r>
              <a:rPr dirty="0"/>
              <a:t>SQLite + Salt</a:t>
            </a:r>
          </a:p>
          <a:p>
            <a:pPr>
              <a:defRPr sz="950">
                <a:solidFill>
                  <a:srgbClr val="334155"/>
                </a:solidFill>
                <a:latin typeface="Pretendard"/>
              </a:defRPr>
            </a:pPr>
            <a:r>
              <a:rPr dirty="0"/>
              <a:t>SHA-256 </a:t>
            </a:r>
            <a:r>
              <a:rPr dirty="0" err="1"/>
              <a:t>개인화</a:t>
            </a:r>
            <a:r>
              <a:rPr dirty="0"/>
              <a:t> </a:t>
            </a:r>
            <a:r>
              <a:rPr dirty="0" err="1"/>
              <a:t>암호화</a:t>
            </a:r>
            <a:r>
              <a:rPr dirty="0"/>
              <a:t> </a:t>
            </a:r>
            <a:r>
              <a:rPr dirty="0" err="1"/>
              <a:t>격리</a:t>
            </a:r>
            <a:endParaRPr dirty="0"/>
          </a:p>
        </p:txBody>
      </p:sp>
      <p:sp>
        <p:nvSpPr>
          <p:cNvPr id="14" name="Rounded Rectangle 13"/>
          <p:cNvSpPr/>
          <p:nvPr/>
        </p:nvSpPr>
        <p:spPr>
          <a:xfrm>
            <a:off x="8988552" y="3246120"/>
            <a:ext cx="2468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25712" y="3383280"/>
            <a:ext cx="2194560" cy="1188720"/>
          </a:xfrm>
          <a:prstGeom prst="rect">
            <a:avLst/>
          </a:prstGeom>
          <a:noFill/>
        </p:spPr>
        <p:txBody>
          <a:bodyPr wrap="square" lIns="0" tIns="0" rIns="0" bIns="0">
            <a:spAutoFit/>
          </a:bodyPr>
          <a:lstStyle/>
          <a:p>
            <a:pPr>
              <a:spcAft>
                <a:spcPts val="200"/>
              </a:spcAft>
              <a:defRPr sz="1050">
                <a:solidFill>
                  <a:srgbClr val="64748B"/>
                </a:solidFill>
                <a:latin typeface="Pretendard"/>
              </a:defRPr>
            </a:pPr>
            <a:r>
              <a:t>정기 알림</a:t>
            </a:r>
          </a:p>
          <a:p>
            <a:pPr>
              <a:defRPr sz="1800" b="1">
                <a:solidFill>
                  <a:srgbClr val="F59E0B"/>
                </a:solidFill>
                <a:latin typeface="Pretendard"/>
              </a:defRPr>
            </a:pPr>
            <a:r>
              <a:t>Telegram Bot</a:t>
            </a:r>
          </a:p>
          <a:p>
            <a:pPr>
              <a:defRPr sz="950">
                <a:solidFill>
                  <a:srgbClr val="334155"/>
                </a:solidFill>
                <a:latin typeface="Pretendard"/>
              </a:defRPr>
            </a:pPr>
            <a:r>
              <a:t>매월 1일 월간 리포트 자동 발송</a:t>
            </a:r>
          </a:p>
        </p:txBody>
      </p:sp>
      <p:sp>
        <p:nvSpPr>
          <p:cNvPr id="16" name="Rounded Rectangle 15"/>
          <p:cNvSpPr/>
          <p:nvPr/>
        </p:nvSpPr>
        <p:spPr>
          <a:xfrm>
            <a:off x="731520" y="4892040"/>
            <a:ext cx="10725912" cy="1325880"/>
          </a:xfrm>
          <a:prstGeom prst="roundRect">
            <a:avLst/>
          </a:prstGeom>
          <a:solidFill>
            <a:srgbClr val="F1F5F9"/>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5056632"/>
            <a:ext cx="10268712" cy="807209"/>
          </a:xfrm>
          <a:prstGeom prst="rect">
            <a:avLst/>
          </a:prstGeom>
          <a:noFill/>
        </p:spPr>
        <p:txBody>
          <a:bodyPr wrap="square" lIns="0" tIns="0" rIns="0" bIns="0">
            <a:spAutoFit/>
          </a:bodyPr>
          <a:lstStyle/>
          <a:p>
            <a:pPr>
              <a:lnSpc>
                <a:spcPct val="150000"/>
              </a:lnSpc>
              <a:spcAft>
                <a:spcPts val="300"/>
              </a:spcAft>
              <a:defRPr sz="1250" b="1">
                <a:solidFill>
                  <a:srgbClr val="0066CC"/>
                </a:solidFill>
                <a:latin typeface="Pretendard"/>
              </a:defRPr>
            </a:pPr>
            <a:r>
              <a:rPr dirty="0"/>
              <a:t>💡 MVP </a:t>
            </a:r>
            <a:r>
              <a:rPr dirty="0" err="1"/>
              <a:t>핵심</a:t>
            </a:r>
            <a:r>
              <a:rPr dirty="0"/>
              <a:t> </a:t>
            </a:r>
            <a:r>
              <a:rPr dirty="0" err="1"/>
              <a:t>가치</a:t>
            </a:r>
            <a:r>
              <a:rPr dirty="0"/>
              <a:t> (Core MVP Value)</a:t>
            </a:r>
          </a:p>
          <a:p>
            <a:pPr>
              <a:lnSpc>
                <a:spcPct val="150000"/>
              </a:lnSpc>
              <a:defRPr sz="1100">
                <a:solidFill>
                  <a:srgbClr val="0F172A"/>
                </a:solidFill>
                <a:latin typeface="Pretendard"/>
              </a:defRPr>
            </a:pPr>
            <a:r>
              <a:rPr lang="en-US" altLang="ko-KR" dirty="0"/>
              <a:t>-</a:t>
            </a:r>
            <a:r>
              <a:rPr lang="ko-KR" altLang="en-US" dirty="0"/>
              <a:t> 키 </a:t>
            </a:r>
            <a:r>
              <a:rPr lang="en-US" altLang="ko-KR" dirty="0"/>
              <a:t>/</a:t>
            </a:r>
            <a:r>
              <a:rPr lang="ko-KR" altLang="en-US" dirty="0"/>
              <a:t> 몸무게 </a:t>
            </a:r>
            <a:r>
              <a:rPr lang="en-US" altLang="ko-KR" dirty="0"/>
              <a:t>/</a:t>
            </a:r>
            <a:r>
              <a:rPr lang="ko-KR" altLang="en-US" dirty="0"/>
              <a:t> 성별 </a:t>
            </a:r>
            <a:r>
              <a:rPr lang="en-US" altLang="ko-KR" dirty="0"/>
              <a:t>/</a:t>
            </a:r>
            <a:r>
              <a:rPr lang="ko-KR" altLang="en-US" dirty="0"/>
              <a:t> 운동정도 의 간단한 입력으로 개인별 목표 정립</a:t>
            </a:r>
            <a:endParaRPr lang="en-US" dirty="0"/>
          </a:p>
          <a:p>
            <a:pPr>
              <a:lnSpc>
                <a:spcPct val="150000"/>
              </a:lnSpc>
              <a:defRPr sz="1100">
                <a:solidFill>
                  <a:srgbClr val="0F172A"/>
                </a:solidFill>
                <a:latin typeface="Pretendard"/>
              </a:defRPr>
            </a:pPr>
            <a:r>
              <a:rPr lang="en-US" altLang="ko-KR" dirty="0"/>
              <a:t>-</a:t>
            </a:r>
            <a:r>
              <a:rPr lang="ko-KR" altLang="en-US" dirty="0"/>
              <a:t> </a:t>
            </a:r>
            <a:r>
              <a:rPr dirty="0" err="1"/>
              <a:t>수동</a:t>
            </a:r>
            <a:r>
              <a:rPr dirty="0"/>
              <a:t> </a:t>
            </a:r>
            <a:r>
              <a:rPr dirty="0" err="1"/>
              <a:t>입력의</a:t>
            </a:r>
            <a:r>
              <a:rPr dirty="0"/>
              <a:t> </a:t>
            </a:r>
            <a:r>
              <a:rPr dirty="0" err="1"/>
              <a:t>피로도와</a:t>
            </a:r>
            <a:r>
              <a:rPr dirty="0"/>
              <a:t> LLM의 </a:t>
            </a:r>
            <a:r>
              <a:rPr dirty="0" err="1"/>
              <a:t>환각을</a:t>
            </a:r>
            <a:r>
              <a:rPr dirty="0"/>
              <a:t> </a:t>
            </a:r>
            <a:r>
              <a:rPr dirty="0" err="1"/>
              <a:t>해결하여</a:t>
            </a:r>
            <a:r>
              <a:rPr dirty="0"/>
              <a:t>, </a:t>
            </a:r>
            <a:r>
              <a:rPr dirty="0" err="1"/>
              <a:t>사진</a:t>
            </a:r>
            <a:r>
              <a:rPr dirty="0"/>
              <a:t> 1장으로 </a:t>
            </a:r>
            <a:r>
              <a:rPr dirty="0" err="1"/>
              <a:t>식약처</a:t>
            </a:r>
            <a:r>
              <a:rPr dirty="0"/>
              <a:t> </a:t>
            </a:r>
            <a:r>
              <a:rPr dirty="0" err="1"/>
              <a:t>표준</a:t>
            </a:r>
            <a:r>
              <a:rPr dirty="0"/>
              <a:t> </a:t>
            </a:r>
            <a:r>
              <a:rPr dirty="0" err="1"/>
              <a:t>영양</a:t>
            </a:r>
            <a:r>
              <a:rPr dirty="0"/>
              <a:t> </a:t>
            </a:r>
            <a:r>
              <a:rPr dirty="0" err="1"/>
              <a:t>수치와</a:t>
            </a:r>
            <a:r>
              <a:rPr dirty="0"/>
              <a:t> </a:t>
            </a:r>
            <a:r>
              <a:rPr dirty="0" err="1"/>
              <a:t>순</a:t>
            </a:r>
            <a:r>
              <a:rPr dirty="0"/>
              <a:t> </a:t>
            </a:r>
            <a:r>
              <a:rPr dirty="0" err="1"/>
              <a:t>칼로리를</a:t>
            </a:r>
            <a:r>
              <a:rPr dirty="0"/>
              <a:t> </a:t>
            </a:r>
            <a:r>
              <a:rPr lang="ko-KR" altLang="en-US" dirty="0"/>
              <a:t>측정합니다</a:t>
            </a:r>
            <a:r>
              <a:rPr lang="en-US" altLang="ko-KR" dirty="0"/>
              <a:t>.</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277091"/>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85800"/>
            <a:ext cx="10725912" cy="411480"/>
          </a:xfrm>
          <a:prstGeom prst="rect">
            <a:avLst/>
          </a:prstGeom>
          <a:noFill/>
        </p:spPr>
        <p:txBody>
          <a:bodyPr wrap="square" lIns="0" tIns="0" rIns="0" bIns="0">
            <a:spAutoFit/>
          </a:bodyPr>
          <a:lstStyle/>
          <a:p>
            <a:pPr>
              <a:defRPr sz="1200" b="1">
                <a:solidFill>
                  <a:srgbClr val="1E293B"/>
                </a:solidFill>
                <a:latin typeface="Pretendard"/>
              </a:defRPr>
            </a:pPr>
            <a:r>
              <a:t>🔀 [고도화 TO-BE] ReAct 병렬 처리 워크플로우</a:t>
            </a:r>
            <a:endParaRPr dirty="0"/>
          </a:p>
          <a:p>
            <a:pPr>
              <a:defRPr sz="1050" b="0">
                <a:solidFill>
                  <a:srgbClr val="0F172A"/>
                </a:solidFill>
                <a:latin typeface="Pretendard"/>
              </a:defRPr>
            </a:pPr>
            <a:r>
              <a:t>1. 사용자 복합 입력 (예: '제육볶음 먹고 40분 러닝했어')</a:t>
            </a:r>
          </a:p>
          <a:p>
            <a:pPr>
              <a:defRPr sz="1050" b="0">
                <a:solidFill>
                  <a:srgbClr val="0F172A"/>
                </a:solidFill>
                <a:latin typeface="Pretendard"/>
              </a:defRPr>
            </a:pPr>
            <a:r>
              <a:t>2. 🔀 의도 분해 &amp; ReAct Engine (식단 + 운동 동시 감지)</a:t>
            </a:r>
          </a:p>
          <a:p>
            <a:pPr>
              <a:defRPr sz="1050" b="0">
                <a:solidFill>
                  <a:srgbClr val="0F172A"/>
                </a:solidFill>
                <a:latin typeface="Pretendard"/>
              </a:defRPr>
            </a:pPr>
            <a:r>
              <a:t>3. ⚡ 병렬 도구 호출 (식약처 FTS5 + ACSM METs 계산기)</a:t>
            </a:r>
          </a:p>
          <a:p>
            <a:pPr>
              <a:defRPr sz="1050" b="0">
                <a:solidFill>
                  <a:srgbClr val="0F172A"/>
                </a:solidFill>
                <a:latin typeface="Pretendard"/>
              </a:defRPr>
            </a:pPr>
            <a:r>
              <a:t>4. 🛡️ 공식 출처 메타데이터 첨부 (식약처 2024 / ACSM)</a:t>
            </a:r>
          </a:p>
          <a:p>
            <a:pPr>
              <a:defRPr sz="1050" b="0">
                <a:solidFill>
                  <a:srgbClr val="0F172A"/>
                </a:solidFill>
                <a:latin typeface="Pretendard"/>
              </a:defRPr>
            </a:pPr>
            <a:r>
              <a:t>5. 🍱🔥 2열 멀티 저장 카드 &amp; [⚡ 원클릭 동시 저장] 제공</a:t>
            </a:r>
          </a:p>
        </p:txBody>
      </p:sp>
      <p:sp>
        <p:nvSpPr>
          <p:cNvPr id="5" name="TextBox 4"/>
          <p:cNvSpPr txBox="1"/>
          <p:nvPr/>
        </p:nvSpPr>
        <p:spPr>
          <a:xfrm>
            <a:off x="731520" y="1097280"/>
            <a:ext cx="10725912" cy="320040"/>
          </a:xfrm>
          <a:prstGeom prst="rect">
            <a:avLst/>
          </a:prstGeom>
          <a:noFill/>
        </p:spPr>
        <p:txBody>
          <a:bodyPr wrap="square" lIns="0" tIns="0" rIns="0" bIns="0">
            <a:spAutoFit/>
          </a:bodyPr>
          <a:lstStyle/>
          <a:p>
            <a:pPr>
              <a:defRPr sz="1300" b="1">
                <a:solidFill>
                  <a:srgbClr val="0066CC"/>
                </a:solidFill>
                <a:latin typeface="Pretendard"/>
              </a:defRPr>
            </a:pPr>
            <a:r>
              <a:t>ReAct 다중 의도 분해 &amp; 병렬 도구 호출 &amp; 2열 멀티 스마트 저장 카드 고도화 아키텍처</a:t>
            </a:r>
            <a:endParaRPr dirty="0"/>
          </a:p>
        </p:txBody>
      </p:sp>
      <p:sp>
        <p:nvSpPr>
          <p:cNvPr id="8" name="Rounded Rectangle 7"/>
          <p:cNvSpPr/>
          <p:nvPr/>
        </p:nvSpPr>
        <p:spPr>
          <a:xfrm>
            <a:off x="7497809" y="1600200"/>
            <a:ext cx="4243832" cy="471037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93184" y="1819656"/>
            <a:ext cx="3828352" cy="4591000"/>
          </a:xfrm>
          <a:prstGeom prst="rect">
            <a:avLst/>
          </a:prstGeom>
          <a:noFill/>
        </p:spPr>
        <p:txBody>
          <a:bodyPr wrap="square" lIns="0" tIns="0" rIns="0" bIns="0">
            <a:spAutoFit/>
          </a:bodyPr>
          <a:lstStyle/>
          <a:p>
            <a:pPr>
              <a:spcAft>
                <a:spcPts val="1000"/>
              </a:spcAft>
              <a:defRPr sz="1200" b="1">
                <a:solidFill>
                  <a:srgbClr val="1E293B"/>
                </a:solidFill>
                <a:latin typeface="Pretendard"/>
              </a:defRPr>
            </a:pPr>
            <a:r>
              <a:t>🔀 [고도화 TO-BE] ReAct 병렬 처리 워크플로우</a:t>
            </a:r>
            <a:endParaRPr sz="1100" dirty="0"/>
          </a:p>
          <a:p>
            <a:pPr>
              <a:defRPr sz="1050" b="0">
                <a:solidFill>
                  <a:srgbClr val="0F172A"/>
                </a:solidFill>
                <a:latin typeface="Pretendard"/>
              </a:defRPr>
            </a:pPr>
            <a:r>
              <a:t>1. 사용자 복합 입력 (예: '제육볶음 먹고 40분 러닝했어')</a:t>
            </a:r>
          </a:p>
          <a:p>
            <a:pPr>
              <a:defRPr sz="1050" b="0">
                <a:solidFill>
                  <a:srgbClr val="0F172A"/>
                </a:solidFill>
                <a:latin typeface="Pretendard"/>
              </a:defRPr>
            </a:pPr>
            <a:r>
              <a:t>2. 🔀 의도 분해 &amp; ReAct Engine (식단 + 운동 동시 감지)</a:t>
            </a:r>
          </a:p>
          <a:p>
            <a:pPr>
              <a:defRPr sz="1050" b="0">
                <a:solidFill>
                  <a:srgbClr val="0F172A"/>
                </a:solidFill>
                <a:latin typeface="Pretendard"/>
              </a:defRPr>
            </a:pPr>
            <a:r>
              <a:t>3. ⚡ 병렬 도구 호출 (식약처 FTS5 + ACSM METs 계산기)</a:t>
            </a:r>
          </a:p>
          <a:p>
            <a:pPr>
              <a:defRPr sz="1050" b="0">
                <a:solidFill>
                  <a:srgbClr val="0F172A"/>
                </a:solidFill>
                <a:latin typeface="Pretendard"/>
              </a:defRPr>
            </a:pPr>
            <a:r>
              <a:t>4. 🛡️ 공식 출처 메타데이터 첨부 (식약처 2024 / ACSM)</a:t>
            </a:r>
          </a:p>
          <a:p>
            <a:pPr>
              <a:defRPr sz="1050" b="0">
                <a:solidFill>
                  <a:srgbClr val="0F172A"/>
                </a:solidFill>
                <a:latin typeface="Pretendard"/>
              </a:defRPr>
            </a:pPr>
            <a:r>
              <a:t>5. 🍱🔥 2열 멀티 저장 카드 &amp; [⚡ 원클릭 동시 저장] 제공</a:t>
            </a:r>
          </a:p>
        </p:txBody>
      </p:sp>
      <p:pic>
        <p:nvPicPr>
          <p:cNvPr id="3" name="그림 2">
            <a:extLst>
              <a:ext uri="{FF2B5EF4-FFF2-40B4-BE49-F238E27FC236}">
                <a16:creationId xmlns:a16="http://schemas.microsoft.com/office/drawing/2014/main" id="{496C3CC3-5D1B-CB8D-8B27-08AB6C102BEE}"/>
              </a:ext>
            </a:extLst>
          </p:cNvPr>
          <p:cNvPicPr>
            <a:picLocks noChangeAspect="1"/>
          </p:cNvPicPr>
          <p:nvPr/>
        </p:nvPicPr>
        <p:blipFill>
          <a:blip r:embed="rId2"/>
          <a:stretch>
            <a:fillRect/>
          </a:stretch>
        </p:blipFill>
        <p:spPr>
          <a:xfrm>
            <a:off x="731520" y="1600200"/>
            <a:ext cx="6584792" cy="4710378"/>
          </a:xfrm>
          <a:prstGeom prst="rect">
            <a:avLst/>
          </a:prstGeom>
        </p:spPr>
      </p:pic>
      <p:pic>
        <p:nvPicPr>
          <p:cNvPr id="10" name="Picture 9" descr="improved_langgraph_diagram.png"/>
          <p:cNvPicPr>
            <a:picLocks noChangeAspect="1"/>
          </p:cNvPicPr>
          <p:nvPr/>
        </p:nvPicPr>
        <p:blipFill>
          <a:blip r:embed="rId3"/>
          <a:stretch>
            <a:fillRect/>
          </a:stretch>
        </p:blipFill>
        <p:spPr>
          <a:xfrm>
            <a:off x="731520" y="1600200"/>
            <a:ext cx="6583680" cy="47091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C2925-C22F-C686-BA4D-3C4B2E88C7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8C971A1-5D26-5757-A407-115D2B76012A}"/>
              </a:ext>
            </a:extLst>
          </p:cNvPr>
          <p:cNvSpPr/>
          <p:nvPr/>
        </p:nvSpPr>
        <p:spPr>
          <a:xfrm>
            <a:off x="305" y="277091"/>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AB34063-3D34-A07D-C46D-398C9F807640}"/>
              </a:ext>
            </a:extLst>
          </p:cNvPr>
          <p:cNvSpPr txBox="1"/>
          <p:nvPr/>
        </p:nvSpPr>
        <p:spPr>
          <a:xfrm>
            <a:off x="731520" y="685800"/>
            <a:ext cx="10725912" cy="338554"/>
          </a:xfrm>
          <a:prstGeom prst="rect">
            <a:avLst/>
          </a:prstGeom>
          <a:noFill/>
        </p:spPr>
        <p:txBody>
          <a:bodyPr wrap="square" lIns="0" tIns="0" rIns="0" bIns="0">
            <a:spAutoFit/>
          </a:bodyPr>
          <a:lstStyle/>
          <a:p>
            <a:pPr>
              <a:defRPr sz="2200" b="1">
                <a:solidFill>
                  <a:srgbClr val="0F172A"/>
                </a:solidFill>
                <a:latin typeface="Pretendard"/>
              </a:defRPr>
            </a:pPr>
            <a:r>
              <a:rPr lang="en-US" altLang="ko-KR" dirty="0"/>
              <a:t>Function calling (</a:t>
            </a:r>
            <a:r>
              <a:rPr lang="ko-KR" altLang="en-US" dirty="0"/>
              <a:t>도구 호출</a:t>
            </a:r>
            <a:r>
              <a:rPr lang="en-US" altLang="ko-KR" dirty="0"/>
              <a:t>)</a:t>
            </a:r>
            <a:r>
              <a:rPr lang="ko-KR" altLang="en-US" dirty="0"/>
              <a:t>을 활용한 정형 데이터 </a:t>
            </a:r>
            <a:r>
              <a:rPr lang="en-US" altLang="ko-KR" dirty="0"/>
              <a:t>RAG</a:t>
            </a:r>
          </a:p>
        </p:txBody>
      </p:sp>
      <p:sp>
        <p:nvSpPr>
          <p:cNvPr id="8" name="Rounded Rectangle 7">
            <a:extLst>
              <a:ext uri="{FF2B5EF4-FFF2-40B4-BE49-F238E27FC236}">
                <a16:creationId xmlns:a16="http://schemas.microsoft.com/office/drawing/2014/main" id="{B288D968-9DD5-CAA3-B2F1-B9AA9748114C}"/>
              </a:ext>
            </a:extLst>
          </p:cNvPr>
          <p:cNvSpPr/>
          <p:nvPr/>
        </p:nvSpPr>
        <p:spPr>
          <a:xfrm>
            <a:off x="7213600" y="1600200"/>
            <a:ext cx="4243832" cy="471037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그림 9">
            <a:extLst>
              <a:ext uri="{FF2B5EF4-FFF2-40B4-BE49-F238E27FC236}">
                <a16:creationId xmlns:a16="http://schemas.microsoft.com/office/drawing/2014/main" id="{2D83932C-20B5-4CFA-68AC-900B389D7B9C}"/>
              </a:ext>
            </a:extLst>
          </p:cNvPr>
          <p:cNvPicPr>
            <a:picLocks noChangeAspect="1"/>
          </p:cNvPicPr>
          <p:nvPr/>
        </p:nvPicPr>
        <p:blipFill>
          <a:blip r:embed="rId2"/>
          <a:stretch>
            <a:fillRect/>
          </a:stretch>
        </p:blipFill>
        <p:spPr>
          <a:xfrm>
            <a:off x="679358" y="2594895"/>
            <a:ext cx="6435309" cy="3132882"/>
          </a:xfrm>
          <a:prstGeom prst="rect">
            <a:avLst/>
          </a:prstGeom>
        </p:spPr>
      </p:pic>
      <p:pic>
        <p:nvPicPr>
          <p:cNvPr id="12" name="그림 11">
            <a:extLst>
              <a:ext uri="{FF2B5EF4-FFF2-40B4-BE49-F238E27FC236}">
                <a16:creationId xmlns:a16="http://schemas.microsoft.com/office/drawing/2014/main" id="{D73C7B33-2DD7-BE8F-5DE3-76C13849B110}"/>
              </a:ext>
            </a:extLst>
          </p:cNvPr>
          <p:cNvPicPr>
            <a:picLocks noChangeAspect="1"/>
          </p:cNvPicPr>
          <p:nvPr/>
        </p:nvPicPr>
        <p:blipFill>
          <a:blip r:embed="rId3"/>
          <a:stretch>
            <a:fillRect/>
          </a:stretch>
        </p:blipFill>
        <p:spPr>
          <a:xfrm>
            <a:off x="646176" y="1417387"/>
            <a:ext cx="3944297" cy="1038941"/>
          </a:xfrm>
          <a:prstGeom prst="rect">
            <a:avLst/>
          </a:prstGeom>
        </p:spPr>
      </p:pic>
      <p:sp>
        <p:nvSpPr>
          <p:cNvPr id="13" name="TextBox 12">
            <a:extLst>
              <a:ext uri="{FF2B5EF4-FFF2-40B4-BE49-F238E27FC236}">
                <a16:creationId xmlns:a16="http://schemas.microsoft.com/office/drawing/2014/main" id="{BA6E9BEC-5EBD-1116-E3B9-61652B7D3957}"/>
              </a:ext>
            </a:extLst>
          </p:cNvPr>
          <p:cNvSpPr txBox="1"/>
          <p:nvPr/>
        </p:nvSpPr>
        <p:spPr>
          <a:xfrm>
            <a:off x="7488239" y="2087064"/>
            <a:ext cx="3598861" cy="677108"/>
          </a:xfrm>
          <a:prstGeom prst="rect">
            <a:avLst/>
          </a:prstGeom>
          <a:noFill/>
        </p:spPr>
        <p:txBody>
          <a:bodyPr wrap="square">
            <a:spAutoFit/>
          </a:bodyPr>
          <a:lstStyle/>
          <a:p>
            <a:pPr marL="171450" indent="-171450">
              <a:spcAft>
                <a:spcPts val="600"/>
              </a:spcAft>
              <a:buFont typeface="Arial" panose="020B0604020202020204" pitchFamily="34" charset="0"/>
              <a:buChar char="•"/>
              <a:defRPr sz="1300" b="1">
                <a:solidFill>
                  <a:srgbClr val="0066CC"/>
                </a:solidFill>
                <a:latin typeface="Pretendard"/>
              </a:defRPr>
            </a:pPr>
            <a:r>
              <a:t>⚡ 식약처 73,199건 SQLite FTS5 전문 검색 엔진 구축</a:t>
            </a:r>
          </a:p>
          <a:p>
            <a:pPr>
              <a:defRPr sz="1100" b="0">
                <a:solidFill>
                  <a:srgbClr val="0F172A"/>
                </a:solidFill>
                <a:latin typeface="Pretendard"/>
              </a:defRPr>
            </a:pPr>
            <a:r>
              <a:t>• 데이터 규모: 전국통합식품영양성분 73,199건 인덱싱</a:t>
            </a:r>
          </a:p>
          <a:p>
            <a:pPr>
              <a:defRPr sz="1100" b="0">
                <a:solidFill>
                  <a:srgbClr val="0F172A"/>
                </a:solidFill>
                <a:latin typeface="Pretendard"/>
              </a:defRPr>
            </a:pPr>
            <a:r>
              <a:t>• 검색 속도: 기존 Pandas 50ms+ ➔ 1.24ms (40배 이상 단축!)</a:t>
            </a:r>
          </a:p>
          <a:p>
            <a:pPr>
              <a:defRPr sz="1100" b="0">
                <a:solidFill>
                  <a:srgbClr val="0F172A"/>
                </a:solidFill>
                <a:latin typeface="Pretendard"/>
              </a:defRPr>
            </a:pPr>
            <a:r>
              <a:t>• 메모리 절감: CSV 지연 로딩 ➔ FTS5 온디맨드 0MB RAM 점유</a:t>
            </a:r>
          </a:p>
          <a:p>
            <a:pPr>
              <a:defRPr sz="1100" b="0">
                <a:solidFill>
                  <a:srgbClr val="0F172A"/>
                </a:solidFill>
                <a:latin typeface="Pretendard"/>
              </a:defRPr>
            </a:pPr>
            <a:r>
              <a:t>• 10대 카테고리 스마트 폴백: 미등록 신조어 음식 영양 추정</a:t>
            </a:r>
          </a:p>
          <a:p>
            <a:pPr>
              <a:defRPr sz="1100" b="0">
                <a:solidFill>
                  <a:srgbClr val="0F172A"/>
                </a:solidFill>
                <a:latin typeface="Pretendard"/>
              </a:defRPr>
            </a:pPr>
            <a:r>
              <a:t>• 공식 출처 표기: 식품의약품안전처 2024 통합DB 뱃지 자동 부여</a:t>
            </a:r>
          </a:p>
        </p:txBody>
      </p:sp>
    </p:spTree>
    <p:extLst>
      <p:ext uri="{BB962C8B-B14F-4D97-AF65-F5344CB8AC3E}">
        <p14:creationId xmlns:p14="http://schemas.microsoft.com/office/powerpoint/2010/main" val="2947570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DB096-DFA6-7F5C-5945-2C1C19AA89B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05080BB-2ADB-8BEB-922F-046C7BC169CE}"/>
              </a:ext>
            </a:extLst>
          </p:cNvPr>
          <p:cNvSpPr/>
          <p:nvPr/>
        </p:nvSpPr>
        <p:spPr>
          <a:xfrm>
            <a:off x="305" y="277091"/>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B2930AA-D474-E42E-7BB6-C6D2E20F9865}"/>
              </a:ext>
            </a:extLst>
          </p:cNvPr>
          <p:cNvSpPr txBox="1"/>
          <p:nvPr/>
        </p:nvSpPr>
        <p:spPr>
          <a:xfrm>
            <a:off x="731520" y="685800"/>
            <a:ext cx="10725912" cy="338554"/>
          </a:xfrm>
          <a:prstGeom prst="rect">
            <a:avLst/>
          </a:prstGeom>
          <a:noFill/>
        </p:spPr>
        <p:txBody>
          <a:bodyPr wrap="square" lIns="0" tIns="0" rIns="0" bIns="0">
            <a:spAutoFit/>
          </a:bodyPr>
          <a:lstStyle/>
          <a:p>
            <a:pPr>
              <a:defRPr sz="2200" b="1">
                <a:solidFill>
                  <a:srgbClr val="0F172A"/>
                </a:solidFill>
                <a:latin typeface="Pretendard"/>
              </a:defRPr>
            </a:pPr>
            <a:r>
              <a:rPr lang="en-US" altLang="ko-KR" dirty="0"/>
              <a:t>Function calling (</a:t>
            </a:r>
            <a:r>
              <a:rPr lang="ko-KR" altLang="en-US" dirty="0"/>
              <a:t>도구 호출</a:t>
            </a:r>
            <a:r>
              <a:rPr lang="en-US" altLang="ko-KR" dirty="0"/>
              <a:t>)</a:t>
            </a:r>
            <a:r>
              <a:rPr lang="ko-KR" altLang="en-US" dirty="0"/>
              <a:t>을 활용한 정형 데이터 </a:t>
            </a:r>
            <a:r>
              <a:rPr lang="en-US" altLang="ko-KR" dirty="0"/>
              <a:t>RAG</a:t>
            </a:r>
          </a:p>
        </p:txBody>
      </p:sp>
      <p:pic>
        <p:nvPicPr>
          <p:cNvPr id="11" name="그림 10">
            <a:extLst>
              <a:ext uri="{FF2B5EF4-FFF2-40B4-BE49-F238E27FC236}">
                <a16:creationId xmlns:a16="http://schemas.microsoft.com/office/drawing/2014/main" id="{08635FC0-FBB5-CAED-8EE2-C3B1AA1E513A}"/>
              </a:ext>
            </a:extLst>
          </p:cNvPr>
          <p:cNvPicPr>
            <a:picLocks noChangeAspect="1"/>
          </p:cNvPicPr>
          <p:nvPr/>
        </p:nvPicPr>
        <p:blipFill>
          <a:blip r:embed="rId2"/>
          <a:stretch>
            <a:fillRect/>
          </a:stretch>
        </p:blipFill>
        <p:spPr>
          <a:xfrm>
            <a:off x="731520" y="1564874"/>
            <a:ext cx="4986234" cy="4706478"/>
          </a:xfrm>
          <a:prstGeom prst="rect">
            <a:avLst/>
          </a:prstGeom>
        </p:spPr>
      </p:pic>
    </p:spTree>
    <p:extLst>
      <p:ext uri="{BB962C8B-B14F-4D97-AF65-F5344CB8AC3E}">
        <p14:creationId xmlns:p14="http://schemas.microsoft.com/office/powerpoint/2010/main" val="1718866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9386D-DB53-AB6E-8EFD-CFC5EE7CDA5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13AF192-608C-09B8-99F9-CDA6F6CD9FEA}"/>
              </a:ext>
            </a:extLst>
          </p:cNvPr>
          <p:cNvSpPr txBox="1"/>
          <p:nvPr/>
        </p:nvSpPr>
        <p:spPr>
          <a:xfrm>
            <a:off x="731520" y="685800"/>
            <a:ext cx="10725912" cy="338554"/>
          </a:xfrm>
          <a:prstGeom prst="rect">
            <a:avLst/>
          </a:prstGeom>
          <a:noFill/>
        </p:spPr>
        <p:txBody>
          <a:bodyPr wrap="square" lIns="0" tIns="0" rIns="0" bIns="0">
            <a:spAutoFit/>
          </a:bodyPr>
          <a:lstStyle/>
          <a:p>
            <a:pPr>
              <a:defRPr sz="2200" b="1">
                <a:solidFill>
                  <a:srgbClr val="0F172A"/>
                </a:solidFill>
                <a:latin typeface="Pretendard"/>
              </a:defRPr>
            </a:pPr>
            <a:r>
              <a:rPr lang="en-US" altLang="ko-KR" dirty="0"/>
              <a:t>Exercise handler – Function calling (</a:t>
            </a:r>
            <a:r>
              <a:rPr lang="ko-KR" altLang="en-US" dirty="0"/>
              <a:t>도구 호출</a:t>
            </a:r>
            <a:r>
              <a:rPr lang="en-US" altLang="ko-KR" dirty="0"/>
              <a:t>)</a:t>
            </a:r>
            <a:endParaRPr lang="ko-KR" altLang="en-US" dirty="0"/>
          </a:p>
        </p:txBody>
      </p:sp>
      <p:pic>
        <p:nvPicPr>
          <p:cNvPr id="6" name="그림 5">
            <a:extLst>
              <a:ext uri="{FF2B5EF4-FFF2-40B4-BE49-F238E27FC236}">
                <a16:creationId xmlns:a16="http://schemas.microsoft.com/office/drawing/2014/main" id="{77296E62-3DD8-919A-3735-A5273AB5623F}"/>
              </a:ext>
            </a:extLst>
          </p:cNvPr>
          <p:cNvPicPr>
            <a:picLocks noChangeAspect="1"/>
          </p:cNvPicPr>
          <p:nvPr/>
        </p:nvPicPr>
        <p:blipFill>
          <a:blip r:embed="rId2"/>
          <a:srcRect r="19115"/>
          <a:stretch>
            <a:fillRect/>
          </a:stretch>
        </p:blipFill>
        <p:spPr>
          <a:xfrm>
            <a:off x="731520" y="1417320"/>
            <a:ext cx="4634807" cy="4249229"/>
          </a:xfrm>
          <a:prstGeom prst="rect">
            <a:avLst/>
          </a:prstGeom>
        </p:spPr>
      </p:pic>
      <p:sp>
        <p:nvSpPr>
          <p:cNvPr id="11" name="TextBox 10">
            <a:extLst>
              <a:ext uri="{FF2B5EF4-FFF2-40B4-BE49-F238E27FC236}">
                <a16:creationId xmlns:a16="http://schemas.microsoft.com/office/drawing/2014/main" id="{9A748F54-8B77-4146-9410-AD8566648E86}"/>
              </a:ext>
            </a:extLst>
          </p:cNvPr>
          <p:cNvSpPr txBox="1"/>
          <p:nvPr/>
        </p:nvSpPr>
        <p:spPr>
          <a:xfrm>
            <a:off x="5529823" y="5718144"/>
            <a:ext cx="4499110" cy="507831"/>
          </a:xfrm>
          <a:prstGeom prst="rect">
            <a:avLst/>
          </a:prstGeom>
          <a:noFill/>
        </p:spPr>
        <p:txBody>
          <a:bodyPr wrap="square">
            <a:spAutoFit/>
          </a:bodyPr>
          <a:lstStyle/>
          <a:p>
            <a:pPr>
              <a:spcAft>
                <a:spcPts val="600"/>
              </a:spcAft>
              <a:defRPr sz="1200">
                <a:solidFill>
                  <a:srgbClr val="334155"/>
                </a:solidFill>
                <a:latin typeface="Pretendard"/>
              </a:defRPr>
            </a:pPr>
            <a:r>
              <a:rPr lang="ko-KR" altLang="en-US" sz="1100" dirty="0"/>
              <a:t>* 운동정보가 없는 경우 학습된 </a:t>
            </a:r>
            <a:r>
              <a:rPr lang="en-US" altLang="ko-KR" sz="1100" dirty="0" err="1"/>
              <a:t>llm</a:t>
            </a:r>
            <a:r>
              <a:rPr lang="en-US" altLang="ko-KR" sz="1100" dirty="0"/>
              <a:t>(</a:t>
            </a:r>
            <a:r>
              <a:rPr lang="ko-KR" altLang="en-US" sz="1100" dirty="0"/>
              <a:t>제미나이</a:t>
            </a:r>
            <a:r>
              <a:rPr lang="en-US" altLang="ko-KR" sz="1100" dirty="0"/>
              <a:t>)</a:t>
            </a:r>
            <a:r>
              <a:rPr lang="ko-KR" altLang="en-US" sz="1100" dirty="0"/>
              <a:t> 자체 추정을 통해 </a:t>
            </a:r>
            <a:endParaRPr lang="en-US" altLang="ko-KR" sz="1100" dirty="0"/>
          </a:p>
          <a:p>
            <a:pPr>
              <a:spcAft>
                <a:spcPts val="600"/>
              </a:spcAft>
              <a:defRPr sz="1200">
                <a:solidFill>
                  <a:srgbClr val="334155"/>
                </a:solidFill>
                <a:latin typeface="Pretendard"/>
              </a:defRPr>
            </a:pPr>
            <a:r>
              <a:rPr lang="en-US" altLang="ko-KR" sz="1100" dirty="0"/>
              <a:t>METs</a:t>
            </a:r>
            <a:r>
              <a:rPr lang="ko-KR" altLang="en-US" sz="1100" dirty="0"/>
              <a:t> 계산하도록 설정</a:t>
            </a:r>
            <a:endParaRPr lang="en-US" altLang="ko-KR" sz="1100" dirty="0"/>
          </a:p>
        </p:txBody>
      </p:sp>
      <p:pic>
        <p:nvPicPr>
          <p:cNvPr id="12" name="그림 11">
            <a:extLst>
              <a:ext uri="{FF2B5EF4-FFF2-40B4-BE49-F238E27FC236}">
                <a16:creationId xmlns:a16="http://schemas.microsoft.com/office/drawing/2014/main" id="{CA315800-2B94-054E-3823-71705B9538DB}"/>
              </a:ext>
            </a:extLst>
          </p:cNvPr>
          <p:cNvPicPr>
            <a:picLocks noChangeAspect="1"/>
          </p:cNvPicPr>
          <p:nvPr/>
        </p:nvPicPr>
        <p:blipFill>
          <a:blip r:embed="rId3"/>
          <a:stretch>
            <a:fillRect/>
          </a:stretch>
        </p:blipFill>
        <p:spPr>
          <a:xfrm>
            <a:off x="5529823" y="1397355"/>
            <a:ext cx="6052461" cy="4063289"/>
          </a:xfrm>
          <a:prstGeom prst="rect">
            <a:avLst/>
          </a:prstGeom>
        </p:spPr>
      </p:pic>
    </p:spTree>
    <p:extLst>
      <p:ext uri="{BB962C8B-B14F-4D97-AF65-F5344CB8AC3E}">
        <p14:creationId xmlns:p14="http://schemas.microsoft.com/office/powerpoint/2010/main" val="3126880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05BB7-755A-12E6-805D-F16DB8C0109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58B9D9-213B-7AC0-8C8D-A188BB4C5D21}"/>
              </a:ext>
            </a:extLst>
          </p:cNvPr>
          <p:cNvSpPr/>
          <p:nvPr/>
        </p:nvSpPr>
        <p:spPr>
          <a:xfrm>
            <a:off x="305" y="277091"/>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600"/>
              </a:spcAft>
              <a:defRPr sz="1200">
                <a:solidFill>
                  <a:srgbClr val="334155"/>
                </a:solidFill>
                <a:latin typeface="Pretendard"/>
              </a:defRPr>
            </a:pPr>
            <a:endParaRPr dirty="0"/>
          </a:p>
        </p:txBody>
      </p:sp>
      <p:sp>
        <p:nvSpPr>
          <p:cNvPr id="18" name="Rounded Rectangle 7">
            <a:extLst>
              <a:ext uri="{FF2B5EF4-FFF2-40B4-BE49-F238E27FC236}">
                <a16:creationId xmlns:a16="http://schemas.microsoft.com/office/drawing/2014/main" id="{EB80633F-A144-286C-66EC-B0B8F464A808}"/>
              </a:ext>
            </a:extLst>
          </p:cNvPr>
          <p:cNvSpPr/>
          <p:nvPr/>
        </p:nvSpPr>
        <p:spPr>
          <a:xfrm>
            <a:off x="6968691" y="1591733"/>
            <a:ext cx="4770917" cy="355778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82D8ABF-49CA-14FE-C5D6-F7D0A44B47ED}"/>
              </a:ext>
            </a:extLst>
          </p:cNvPr>
          <p:cNvSpPr txBox="1"/>
          <p:nvPr/>
        </p:nvSpPr>
        <p:spPr>
          <a:xfrm>
            <a:off x="731520" y="685800"/>
            <a:ext cx="10725912" cy="338554"/>
          </a:xfrm>
          <a:prstGeom prst="rect">
            <a:avLst/>
          </a:prstGeom>
          <a:noFill/>
        </p:spPr>
        <p:txBody>
          <a:bodyPr wrap="square" lIns="0" tIns="0" rIns="0" bIns="0">
            <a:spAutoFit/>
          </a:bodyPr>
          <a:lstStyle/>
          <a:p>
            <a:pPr>
              <a:defRPr sz="2200" b="1">
                <a:solidFill>
                  <a:srgbClr val="0F172A"/>
                </a:solidFill>
                <a:latin typeface="Pretendard"/>
              </a:defRPr>
            </a:pPr>
            <a:r>
              <a:rPr lang="en-US" altLang="ko-KR" dirty="0"/>
              <a:t>Exercise handler – Function calling (</a:t>
            </a:r>
            <a:r>
              <a:rPr lang="ko-KR" altLang="en-US" dirty="0"/>
              <a:t>도구 호출</a:t>
            </a:r>
            <a:r>
              <a:rPr lang="en-US" altLang="ko-KR" dirty="0"/>
              <a:t>)</a:t>
            </a:r>
            <a:endParaRPr lang="ko-KR" altLang="en-US" dirty="0"/>
          </a:p>
        </p:txBody>
      </p:sp>
      <p:pic>
        <p:nvPicPr>
          <p:cNvPr id="11" name="그림 10">
            <a:extLst>
              <a:ext uri="{FF2B5EF4-FFF2-40B4-BE49-F238E27FC236}">
                <a16:creationId xmlns:a16="http://schemas.microsoft.com/office/drawing/2014/main" id="{929B8427-F649-A610-7D39-EB8D29FBFDFC}"/>
              </a:ext>
            </a:extLst>
          </p:cNvPr>
          <p:cNvPicPr>
            <a:picLocks noChangeAspect="1"/>
          </p:cNvPicPr>
          <p:nvPr/>
        </p:nvPicPr>
        <p:blipFill>
          <a:blip r:embed="rId2"/>
          <a:stretch>
            <a:fillRect/>
          </a:stretch>
        </p:blipFill>
        <p:spPr>
          <a:xfrm>
            <a:off x="731520" y="1591733"/>
            <a:ext cx="6066956" cy="3557783"/>
          </a:xfrm>
          <a:prstGeom prst="rect">
            <a:avLst/>
          </a:prstGeom>
        </p:spPr>
      </p:pic>
      <p:sp>
        <p:nvSpPr>
          <p:cNvPr id="16" name="TextBox 15">
            <a:extLst>
              <a:ext uri="{FF2B5EF4-FFF2-40B4-BE49-F238E27FC236}">
                <a16:creationId xmlns:a16="http://schemas.microsoft.com/office/drawing/2014/main" id="{72D0412F-BD7C-0CE4-5BAC-3BDD35BFDF29}"/>
              </a:ext>
            </a:extLst>
          </p:cNvPr>
          <p:cNvSpPr txBox="1"/>
          <p:nvPr/>
        </p:nvSpPr>
        <p:spPr>
          <a:xfrm>
            <a:off x="7250867" y="2000442"/>
            <a:ext cx="4488741" cy="1401025"/>
          </a:xfrm>
          <a:prstGeom prst="rect">
            <a:avLst/>
          </a:prstGeom>
          <a:noFill/>
        </p:spPr>
        <p:txBody>
          <a:bodyPr wrap="square">
            <a:spAutoFit/>
          </a:bodyPr>
          <a:lstStyle/>
          <a:p>
            <a:pPr>
              <a:lnSpc>
                <a:spcPct val="150000"/>
              </a:lnSpc>
              <a:spcAft>
                <a:spcPts val="600"/>
              </a:spcAft>
              <a:defRPr sz="1200">
                <a:solidFill>
                  <a:srgbClr val="334155"/>
                </a:solidFill>
                <a:latin typeface="Pretendard"/>
              </a:defRPr>
            </a:pPr>
            <a:r>
              <a:rPr lang="en" altLang="ko-KR" sz="1200" dirty="0"/>
              <a:t>•  ACSM </a:t>
            </a:r>
            <a:r>
              <a:rPr lang="ko-KR" altLang="en-US" sz="1200" dirty="0"/>
              <a:t>공식</a:t>
            </a:r>
            <a:r>
              <a:rPr lang="en-US" altLang="ko-KR" sz="1200" dirty="0"/>
              <a:t>: `</a:t>
            </a:r>
            <a:r>
              <a:rPr lang="ko-KR" altLang="en-US" sz="1200" dirty="0"/>
              <a:t>소모 칼로리 </a:t>
            </a:r>
            <a:r>
              <a:rPr lang="en-US" altLang="ko-KR" sz="1200" dirty="0"/>
              <a:t>= 1.05 × </a:t>
            </a:r>
            <a:r>
              <a:rPr lang="en" altLang="ko-KR" sz="1200" dirty="0"/>
              <a:t>METs × </a:t>
            </a:r>
            <a:r>
              <a:rPr lang="ko-KR" altLang="en-US" sz="1200" dirty="0"/>
              <a:t>체중</a:t>
            </a:r>
            <a:r>
              <a:rPr lang="en-US" altLang="ko-KR" sz="1200" dirty="0"/>
              <a:t>(</a:t>
            </a:r>
            <a:r>
              <a:rPr lang="en" altLang="ko-KR" sz="1200" dirty="0"/>
              <a:t>kg) × </a:t>
            </a:r>
            <a:r>
              <a:rPr lang="ko-KR" altLang="en-US" sz="1200" dirty="0"/>
              <a:t>시간</a:t>
            </a:r>
            <a:r>
              <a:rPr lang="en-US" altLang="ko-KR" sz="1200" dirty="0"/>
              <a:t>(</a:t>
            </a:r>
            <a:r>
              <a:rPr lang="en" altLang="ko-KR" sz="1200" dirty="0" err="1"/>
              <a:t>hr</a:t>
            </a:r>
            <a:r>
              <a:rPr lang="en" altLang="ko-KR" sz="1200" dirty="0"/>
              <a:t>)`</a:t>
            </a:r>
          </a:p>
          <a:p>
            <a:pPr>
              <a:lnSpc>
                <a:spcPct val="150000"/>
              </a:lnSpc>
              <a:spcAft>
                <a:spcPts val="600"/>
              </a:spcAft>
              <a:defRPr sz="1200">
                <a:solidFill>
                  <a:srgbClr val="334155"/>
                </a:solidFill>
                <a:latin typeface="Pretendard"/>
              </a:defRPr>
            </a:pPr>
            <a:r>
              <a:rPr lang="en" altLang="ko-KR" sz="1200" dirty="0"/>
              <a:t>•  20+ </a:t>
            </a:r>
            <a:r>
              <a:rPr lang="ko-KR" altLang="en-US" sz="1200" dirty="0"/>
              <a:t>운동 계수 </a:t>
            </a:r>
            <a:r>
              <a:rPr lang="en" altLang="ko-KR" sz="1200" dirty="0"/>
              <a:t>DB: </a:t>
            </a:r>
            <a:r>
              <a:rPr lang="ko-KR" altLang="en-US" sz="1200" dirty="0"/>
              <a:t>러닝</a:t>
            </a:r>
            <a:r>
              <a:rPr lang="en-US" altLang="ko-KR" sz="1200" dirty="0"/>
              <a:t>(8.5), </a:t>
            </a:r>
            <a:r>
              <a:rPr lang="ko-KR" altLang="en-US" sz="1200" dirty="0"/>
              <a:t>웨이트</a:t>
            </a:r>
            <a:r>
              <a:rPr lang="en-US" altLang="ko-KR" sz="1200" dirty="0"/>
              <a:t>(5.5), </a:t>
            </a:r>
            <a:r>
              <a:rPr lang="ko-KR" altLang="en-US" sz="1200" dirty="0"/>
              <a:t>수영</a:t>
            </a:r>
            <a:r>
              <a:rPr lang="en-US" altLang="ko-KR" sz="1200" dirty="0"/>
              <a:t>(7.0), </a:t>
            </a:r>
            <a:r>
              <a:rPr lang="ko-KR" altLang="en-US" sz="1200" dirty="0"/>
              <a:t>줄넘기</a:t>
            </a:r>
            <a:r>
              <a:rPr lang="en-US" altLang="ko-KR" sz="1200" dirty="0"/>
              <a:t>(10.0)</a:t>
            </a:r>
          </a:p>
          <a:p>
            <a:pPr>
              <a:lnSpc>
                <a:spcPct val="150000"/>
              </a:lnSpc>
              <a:spcAft>
                <a:spcPts val="600"/>
              </a:spcAft>
              <a:defRPr sz="1200">
                <a:solidFill>
                  <a:srgbClr val="334155"/>
                </a:solidFill>
                <a:latin typeface="Pretendard"/>
              </a:defRPr>
            </a:pPr>
            <a:r>
              <a:rPr lang="en-US" altLang="ko-KR" sz="1200" dirty="0"/>
              <a:t>•  </a:t>
            </a:r>
            <a:r>
              <a:rPr lang="ko-KR" altLang="en-US" sz="1200" dirty="0"/>
              <a:t>체중 연동</a:t>
            </a:r>
            <a:r>
              <a:rPr lang="en-US" altLang="ko-KR" sz="1200" dirty="0"/>
              <a:t>: </a:t>
            </a:r>
            <a:r>
              <a:rPr lang="ko-KR" altLang="en-US" sz="1200" dirty="0"/>
              <a:t>사용자별 체중</a:t>
            </a:r>
            <a:r>
              <a:rPr lang="en-US" altLang="ko-KR" sz="1200" dirty="0"/>
              <a:t>(</a:t>
            </a:r>
            <a:r>
              <a:rPr lang="en" altLang="ko-KR" sz="1200" dirty="0"/>
              <a:t>kg) </a:t>
            </a:r>
            <a:r>
              <a:rPr lang="ko-KR" altLang="en-US" sz="1200" dirty="0"/>
              <a:t>자동 반영 맞춤 계산</a:t>
            </a:r>
          </a:p>
          <a:p>
            <a:pPr>
              <a:lnSpc>
                <a:spcPct val="150000"/>
              </a:lnSpc>
              <a:spcAft>
                <a:spcPts val="600"/>
              </a:spcAft>
              <a:defRPr sz="1200">
                <a:solidFill>
                  <a:srgbClr val="334155"/>
                </a:solidFill>
                <a:latin typeface="Pretendard"/>
              </a:defRPr>
            </a:pPr>
            <a:r>
              <a:rPr lang="en-US" altLang="ko-KR" sz="1200" dirty="0"/>
              <a:t>•  </a:t>
            </a:r>
            <a:r>
              <a:rPr lang="ko-KR" altLang="en-US" sz="1200" dirty="0"/>
              <a:t>순 칼로리</a:t>
            </a:r>
            <a:r>
              <a:rPr lang="en-US" altLang="ko-KR" sz="1200" dirty="0"/>
              <a:t>(</a:t>
            </a:r>
            <a:r>
              <a:rPr lang="en" altLang="ko-KR" sz="1200" dirty="0"/>
              <a:t>Net Calories) </a:t>
            </a:r>
            <a:r>
              <a:rPr lang="ko-KR" altLang="en-US" sz="1200" dirty="0"/>
              <a:t>연동</a:t>
            </a:r>
            <a:r>
              <a:rPr lang="en-US" altLang="ko-KR" sz="1200" dirty="0"/>
              <a:t>: </a:t>
            </a:r>
            <a:r>
              <a:rPr lang="ko-KR" altLang="en-US" sz="1200" dirty="0"/>
              <a:t>섭취량 </a:t>
            </a:r>
            <a:r>
              <a:rPr lang="en-US" altLang="ko-KR" sz="1200" dirty="0"/>
              <a:t>- </a:t>
            </a:r>
            <a:r>
              <a:rPr lang="ko-KR" altLang="en-US" sz="1200" dirty="0"/>
              <a:t>운동 소모량</a:t>
            </a:r>
            <a:endParaRPr lang="ko-KR" altLang="en-US" dirty="0"/>
          </a:p>
        </p:txBody>
      </p:sp>
    </p:spTree>
    <p:extLst>
      <p:ext uri="{BB962C8B-B14F-4D97-AF65-F5344CB8AC3E}">
        <p14:creationId xmlns:p14="http://schemas.microsoft.com/office/powerpoint/2010/main" val="4198087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1E3AC-E8FB-968B-D0C6-F65E91C1287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FB4831F-D0BC-2087-918D-28C32BC4EB8E}"/>
              </a:ext>
            </a:extLst>
          </p:cNvPr>
          <p:cNvSpPr/>
          <p:nvPr/>
        </p:nvSpPr>
        <p:spPr>
          <a:xfrm>
            <a:off x="305" y="327891"/>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그림 5">
            <a:extLst>
              <a:ext uri="{FF2B5EF4-FFF2-40B4-BE49-F238E27FC236}">
                <a16:creationId xmlns:a16="http://schemas.microsoft.com/office/drawing/2014/main" id="{A46D5423-D814-0BBB-B062-807D67F13D98}"/>
              </a:ext>
            </a:extLst>
          </p:cNvPr>
          <p:cNvPicPr>
            <a:picLocks noChangeAspect="1"/>
          </p:cNvPicPr>
          <p:nvPr/>
        </p:nvPicPr>
        <p:blipFill>
          <a:blip r:embed="rId2"/>
          <a:stretch>
            <a:fillRect/>
          </a:stretch>
        </p:blipFill>
        <p:spPr>
          <a:xfrm>
            <a:off x="350520" y="2024704"/>
            <a:ext cx="5133510" cy="3575996"/>
          </a:xfrm>
          <a:prstGeom prst="rect">
            <a:avLst/>
          </a:prstGeom>
        </p:spPr>
      </p:pic>
      <p:pic>
        <p:nvPicPr>
          <p:cNvPr id="12" name="그림 11">
            <a:extLst>
              <a:ext uri="{FF2B5EF4-FFF2-40B4-BE49-F238E27FC236}">
                <a16:creationId xmlns:a16="http://schemas.microsoft.com/office/drawing/2014/main" id="{873B29F0-76FA-A9EE-CA55-07EBD1807532}"/>
              </a:ext>
            </a:extLst>
          </p:cNvPr>
          <p:cNvPicPr>
            <a:picLocks noChangeAspect="1"/>
          </p:cNvPicPr>
          <p:nvPr/>
        </p:nvPicPr>
        <p:blipFill>
          <a:blip r:embed="rId3"/>
          <a:stretch>
            <a:fillRect/>
          </a:stretch>
        </p:blipFill>
        <p:spPr>
          <a:xfrm>
            <a:off x="5761271" y="2024704"/>
            <a:ext cx="6080209" cy="3473226"/>
          </a:xfrm>
          <a:prstGeom prst="rect">
            <a:avLst/>
          </a:prstGeom>
        </p:spPr>
      </p:pic>
      <p:sp>
        <p:nvSpPr>
          <p:cNvPr id="15" name="TextBox 14">
            <a:extLst>
              <a:ext uri="{FF2B5EF4-FFF2-40B4-BE49-F238E27FC236}">
                <a16:creationId xmlns:a16="http://schemas.microsoft.com/office/drawing/2014/main" id="{86CD3746-0707-CFB4-B594-33C4EAEA6405}"/>
              </a:ext>
            </a:extLst>
          </p:cNvPr>
          <p:cNvSpPr txBox="1"/>
          <p:nvPr/>
        </p:nvSpPr>
        <p:spPr>
          <a:xfrm>
            <a:off x="731520" y="685800"/>
            <a:ext cx="10725912" cy="338554"/>
          </a:xfrm>
          <a:prstGeom prst="rect">
            <a:avLst/>
          </a:prstGeom>
          <a:noFill/>
        </p:spPr>
        <p:txBody>
          <a:bodyPr wrap="square" lIns="0" tIns="0" rIns="0" bIns="0">
            <a:spAutoFit/>
          </a:bodyPr>
          <a:lstStyle/>
          <a:p>
            <a:pPr>
              <a:defRPr sz="2200" b="1">
                <a:solidFill>
                  <a:srgbClr val="0F172A"/>
                </a:solidFill>
                <a:latin typeface="Pretendard"/>
              </a:defRPr>
            </a:pPr>
            <a:r>
              <a:rPr lang="ko-KR" altLang="ko-KR" sz="2200" b="1" dirty="0">
                <a:solidFill>
                  <a:srgbClr val="0F172A"/>
                </a:solidFill>
                <a:latin typeface="Pretendard"/>
              </a:rPr>
              <a:t>검증된 RAG 지식 문서</a:t>
            </a:r>
            <a:r>
              <a:rPr lang="ko-KR" altLang="ko-KR" sz="2200" dirty="0">
                <a:solidFill>
                  <a:srgbClr val="0F172A"/>
                </a:solidFill>
                <a:latin typeface="Pretendard"/>
              </a:rPr>
              <a:t> 인용</a:t>
            </a:r>
            <a:endParaRPr dirty="0"/>
          </a:p>
        </p:txBody>
      </p:sp>
    </p:spTree>
    <p:extLst>
      <p:ext uri="{BB962C8B-B14F-4D97-AF65-F5344CB8AC3E}">
        <p14:creationId xmlns:p14="http://schemas.microsoft.com/office/powerpoint/2010/main" val="2828660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D1726-E07C-A03B-D2A1-8C818C238C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1ADB665-EC97-FBD1-99BE-A4AA586B8A0A}"/>
              </a:ext>
            </a:extLst>
          </p:cNvPr>
          <p:cNvSpPr/>
          <p:nvPr/>
        </p:nvSpPr>
        <p:spPr>
          <a:xfrm>
            <a:off x="305" y="327891"/>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7">
            <a:extLst>
              <a:ext uri="{FF2B5EF4-FFF2-40B4-BE49-F238E27FC236}">
                <a16:creationId xmlns:a16="http://schemas.microsoft.com/office/drawing/2014/main" id="{E6F0EC01-E1B9-82A8-4521-E152DAFB057F}"/>
              </a:ext>
            </a:extLst>
          </p:cNvPr>
          <p:cNvSpPr/>
          <p:nvPr/>
        </p:nvSpPr>
        <p:spPr>
          <a:xfrm>
            <a:off x="6414295" y="1639112"/>
            <a:ext cx="5230368" cy="3715207"/>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568A673-C5BC-9900-6D32-AB19B745C49D}"/>
              </a:ext>
            </a:extLst>
          </p:cNvPr>
          <p:cNvSpPr txBox="1"/>
          <p:nvPr/>
        </p:nvSpPr>
        <p:spPr>
          <a:xfrm>
            <a:off x="731520" y="685800"/>
            <a:ext cx="10725912" cy="338554"/>
          </a:xfrm>
          <a:prstGeom prst="rect">
            <a:avLst/>
          </a:prstGeom>
          <a:noFill/>
        </p:spPr>
        <p:txBody>
          <a:bodyPr wrap="square" lIns="0" tIns="0" rIns="0" bIns="0">
            <a:spAutoFit/>
          </a:bodyPr>
          <a:lstStyle/>
          <a:p>
            <a:pPr>
              <a:defRPr sz="2200" b="1">
                <a:solidFill>
                  <a:srgbClr val="0F172A"/>
                </a:solidFill>
                <a:latin typeface="Pretendard"/>
              </a:defRPr>
            </a:pPr>
            <a:r>
              <a:rPr lang="ko-KR" altLang="ko-KR" sz="2200" b="1" dirty="0">
                <a:solidFill>
                  <a:srgbClr val="0F172A"/>
                </a:solidFill>
                <a:latin typeface="Pretendard"/>
              </a:rPr>
              <a:t>검증된 RAG 지식 문서</a:t>
            </a:r>
            <a:r>
              <a:rPr lang="ko-KR" altLang="ko-KR" sz="2200" dirty="0">
                <a:solidFill>
                  <a:srgbClr val="0F172A"/>
                </a:solidFill>
                <a:latin typeface="Pretendard"/>
              </a:rPr>
              <a:t> 인용</a:t>
            </a:r>
            <a:endParaRPr dirty="0"/>
          </a:p>
        </p:txBody>
      </p:sp>
      <p:pic>
        <p:nvPicPr>
          <p:cNvPr id="7" name="그림 6">
            <a:extLst>
              <a:ext uri="{FF2B5EF4-FFF2-40B4-BE49-F238E27FC236}">
                <a16:creationId xmlns:a16="http://schemas.microsoft.com/office/drawing/2014/main" id="{A362C3AA-37A7-54E0-E70E-ADDDD4F4665B}"/>
              </a:ext>
            </a:extLst>
          </p:cNvPr>
          <p:cNvPicPr>
            <a:picLocks noChangeAspect="1"/>
          </p:cNvPicPr>
          <p:nvPr/>
        </p:nvPicPr>
        <p:blipFill>
          <a:blip r:embed="rId2"/>
          <a:stretch>
            <a:fillRect/>
          </a:stretch>
        </p:blipFill>
        <p:spPr>
          <a:xfrm>
            <a:off x="731521" y="1639113"/>
            <a:ext cx="5550010" cy="2634504"/>
          </a:xfrm>
          <a:prstGeom prst="rect">
            <a:avLst/>
          </a:prstGeom>
        </p:spPr>
      </p:pic>
      <p:sp>
        <p:nvSpPr>
          <p:cNvPr id="10" name="TextBox 9">
            <a:extLst>
              <a:ext uri="{FF2B5EF4-FFF2-40B4-BE49-F238E27FC236}">
                <a16:creationId xmlns:a16="http://schemas.microsoft.com/office/drawing/2014/main" id="{8709AB48-60B5-0E8D-05EF-BDC8076C3696}"/>
              </a:ext>
            </a:extLst>
          </p:cNvPr>
          <p:cNvSpPr txBox="1"/>
          <p:nvPr/>
        </p:nvSpPr>
        <p:spPr>
          <a:xfrm>
            <a:off x="6598477" y="1792568"/>
            <a:ext cx="4488741" cy="3370795"/>
          </a:xfrm>
          <a:prstGeom prst="rect">
            <a:avLst/>
          </a:prstGeom>
          <a:noFill/>
        </p:spPr>
        <p:txBody>
          <a:bodyPr wrap="square">
            <a:spAutoFit/>
          </a:bodyPr>
          <a:lstStyle/>
          <a:p>
            <a:pPr>
              <a:lnSpc>
                <a:spcPct val="150000"/>
              </a:lnSpc>
              <a:spcAft>
                <a:spcPts val="600"/>
              </a:spcAft>
              <a:defRPr sz="1300" b="1">
                <a:solidFill>
                  <a:srgbClr val="0066CC"/>
                </a:solidFill>
                <a:latin typeface="Pretendard"/>
              </a:defRPr>
            </a:pPr>
            <a:r>
              <a:t>📚 14대 임상 영양 백과 &amp; BM25+Dense 하이브리드 RAG</a:t>
            </a:r>
            <a:endParaRPr lang="en-US" altLang="ko-KR" sz="1200" b="1" dirty="0"/>
          </a:p>
          <a:p>
            <a:pPr>
              <a:defRPr sz="1050" b="0">
                <a:solidFill>
                  <a:srgbClr val="0F172A"/>
                </a:solidFill>
                <a:latin typeface="Pretendard"/>
              </a:defRPr>
            </a:pPr>
            <a:r>
              <a:t>• 14대 전문 임상 가이드라인 확장:</a:t>
            </a:r>
          </a:p>
          <a:p>
            <a:pPr>
              <a:defRPr sz="1050" b="0">
                <a:solidFill>
                  <a:srgbClr val="0F172A"/>
                </a:solidFill>
                <a:latin typeface="Pretendard"/>
              </a:defRPr>
            </a:pPr>
            <a:r>
              <a:t>   - 혈당 스파이크 식사 순서, 다이어트 정체기 리피드(Re-feed)</a:t>
            </a:r>
          </a:p>
          <a:p>
            <a:pPr>
              <a:defRPr sz="1050" b="0">
                <a:solidFill>
                  <a:srgbClr val="0F172A"/>
                </a:solidFill>
                <a:latin typeface="Pretendard"/>
              </a:defRPr>
            </a:pPr>
            <a:r>
              <a:t>   - 단백질 MPS 골든타임, 저칼로리 대체식재료, 야식 가짜배고픔</a:t>
            </a:r>
          </a:p>
          <a:p>
            <a:pPr>
              <a:defRPr sz="1050" b="0">
                <a:solidFill>
                  <a:srgbClr val="0F172A"/>
                </a:solidFill>
                <a:latin typeface="Pretendard"/>
              </a:defRPr>
            </a:pPr>
            <a:r>
              <a:t>   - 간헐적 단식 16:8 공복 가이드, 알코올 지방 대사 등</a:t>
            </a:r>
          </a:p>
          <a:p>
            <a:pPr>
              <a:defRPr sz="1050" b="0">
                <a:solidFill>
                  <a:srgbClr val="0F172A"/>
                </a:solidFill>
                <a:latin typeface="Pretendard"/>
              </a:defRPr>
            </a:pPr>
            <a:r>
              <a:t>• BM25 + Semantic 코사인 유사도 하이브리드 검색:</a:t>
            </a:r>
          </a:p>
          <a:p>
            <a:pPr>
              <a:defRPr sz="1050" b="0">
                <a:solidFill>
                  <a:srgbClr val="0F172A"/>
                </a:solidFill>
                <a:latin typeface="Pretendard"/>
              </a:defRPr>
            </a:pPr>
            <a:r>
              <a:t>   - 키워드 정확도 + 자연어 문맥을 RRF 알고리즘으로 결합</a:t>
            </a:r>
          </a:p>
          <a:p>
            <a:pPr>
              <a:defRPr sz="1050" b="0">
                <a:solidFill>
                  <a:srgbClr val="0F172A"/>
                </a:solidFill>
                <a:latin typeface="Pretendard"/>
              </a:defRPr>
            </a:pPr>
            <a:r>
              <a:t>• 공식 출처 뱃지: 보건복지부 KDRIs 및 임상 가이드라인 명시</a:t>
            </a:r>
          </a:p>
        </p:txBody>
      </p:sp>
    </p:spTree>
    <p:extLst>
      <p:ext uri="{BB962C8B-B14F-4D97-AF65-F5344CB8AC3E}">
        <p14:creationId xmlns:p14="http://schemas.microsoft.com/office/powerpoint/2010/main" val="916277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298383"/>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5912" cy="274320"/>
          </a:xfrm>
          <a:prstGeom prst="rect">
            <a:avLst/>
          </a:prstGeom>
          <a:noFill/>
        </p:spPr>
        <p:txBody>
          <a:bodyPr wrap="square" lIns="0" tIns="0" rIns="0" bIns="0">
            <a:spAutoFit/>
          </a:bodyPr>
          <a:lstStyle/>
          <a:p>
            <a:pPr>
              <a:defRPr sz="1050" b="1">
                <a:solidFill>
                  <a:srgbClr val="0066CC"/>
                </a:solidFill>
                <a:latin typeface="Pretendard"/>
              </a:defRPr>
            </a:pPr>
            <a:r>
              <a:t>NOTEBOOK CELL 9</a:t>
            </a:r>
          </a:p>
        </p:txBody>
      </p:sp>
      <p:sp>
        <p:nvSpPr>
          <p:cNvPr id="4" name="TextBox 3"/>
          <p:cNvSpPr txBox="1"/>
          <p:nvPr/>
        </p:nvSpPr>
        <p:spPr>
          <a:xfrm>
            <a:off x="731520" y="685800"/>
            <a:ext cx="10725912" cy="411480"/>
          </a:xfrm>
          <a:prstGeom prst="rect">
            <a:avLst/>
          </a:prstGeom>
          <a:noFill/>
        </p:spPr>
        <p:txBody>
          <a:bodyPr wrap="square" lIns="0" tIns="0" rIns="0" bIns="0">
            <a:spAutoFit/>
          </a:bodyPr>
          <a:lstStyle/>
          <a:p>
            <a:pPr>
              <a:defRPr sz="2200" b="1">
                <a:solidFill>
                  <a:srgbClr val="0F172A"/>
                </a:solidFill>
                <a:latin typeface="Pretendard"/>
              </a:defRPr>
            </a:pPr>
            <a:r>
              <a:t>[Cell 9] Self-RAG 3단계 품질 게이트 (LLM-as-a-Judge)</a:t>
            </a:r>
          </a:p>
        </p:txBody>
      </p:sp>
      <p:sp>
        <p:nvSpPr>
          <p:cNvPr id="5" name="TextBox 4"/>
          <p:cNvSpPr txBox="1"/>
          <p:nvPr/>
        </p:nvSpPr>
        <p:spPr>
          <a:xfrm>
            <a:off x="731520" y="1097280"/>
            <a:ext cx="10725912" cy="320040"/>
          </a:xfrm>
          <a:prstGeom prst="rect">
            <a:avLst/>
          </a:prstGeom>
          <a:noFill/>
        </p:spPr>
        <p:txBody>
          <a:bodyPr wrap="square" lIns="0" tIns="0" rIns="0" bIns="0">
            <a:spAutoFit/>
          </a:bodyPr>
          <a:lstStyle/>
          <a:p>
            <a:pPr>
              <a:defRPr sz="1200">
                <a:solidFill>
                  <a:srgbClr val="64748B"/>
                </a:solidFill>
                <a:latin typeface="Pretendard"/>
              </a:defRPr>
            </a:pPr>
            <a:r>
              <a:t>관련성(Relevance) ➔ 환각 검출(Grounding) ➔ 임상 안전성(Safety) 3중 검증 실측</a:t>
            </a:r>
          </a:p>
        </p:txBody>
      </p:sp>
      <p:sp>
        <p:nvSpPr>
          <p:cNvPr id="8" name="Rounded Rectangle 7"/>
          <p:cNvSpPr/>
          <p:nvPr/>
        </p:nvSpPr>
        <p:spPr>
          <a:xfrm>
            <a:off x="6227064" y="1600200"/>
            <a:ext cx="5230368" cy="3108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83096" y="1819656"/>
            <a:ext cx="4718304" cy="2537233"/>
          </a:xfrm>
          <a:prstGeom prst="rect">
            <a:avLst/>
          </a:prstGeom>
          <a:noFill/>
        </p:spPr>
        <p:txBody>
          <a:bodyPr wrap="square" lIns="0" tIns="0" rIns="0" bIns="0">
            <a:spAutoFit/>
          </a:bodyPr>
          <a:lstStyle/>
          <a:p>
            <a:pPr>
              <a:lnSpc>
                <a:spcPct val="150000"/>
              </a:lnSpc>
              <a:spcAft>
                <a:spcPts val="1000"/>
              </a:spcAft>
              <a:defRPr sz="1500" b="1">
                <a:solidFill>
                  <a:srgbClr val="0F172A"/>
                </a:solidFill>
                <a:latin typeface="Pretendard"/>
              </a:defRPr>
            </a:pPr>
            <a:r>
              <a:rPr dirty="0"/>
              <a:t>🛡️ 3단계 </a:t>
            </a:r>
            <a:r>
              <a:rPr dirty="0" err="1"/>
              <a:t>이진</a:t>
            </a:r>
            <a:r>
              <a:rPr dirty="0"/>
              <a:t> </a:t>
            </a:r>
            <a:r>
              <a:rPr dirty="0" err="1"/>
              <a:t>품질</a:t>
            </a:r>
            <a:r>
              <a:rPr dirty="0"/>
              <a:t> </a:t>
            </a:r>
            <a:r>
              <a:rPr dirty="0" err="1"/>
              <a:t>평가</a:t>
            </a:r>
            <a:r>
              <a:rPr dirty="0"/>
              <a:t> </a:t>
            </a:r>
            <a:r>
              <a:rPr dirty="0" err="1"/>
              <a:t>구조</a:t>
            </a:r>
            <a:endParaRPr dirty="0"/>
          </a:p>
          <a:p>
            <a:pPr>
              <a:lnSpc>
                <a:spcPct val="150000"/>
              </a:lnSpc>
              <a:spcAft>
                <a:spcPts val="600"/>
              </a:spcAft>
              <a:defRPr sz="1200">
                <a:solidFill>
                  <a:srgbClr val="334155"/>
                </a:solidFill>
                <a:latin typeface="Pretendard"/>
              </a:defRPr>
            </a:pPr>
            <a:r>
              <a:rPr dirty="0"/>
              <a:t>•  Gate 1. </a:t>
            </a:r>
            <a:r>
              <a:rPr dirty="0" err="1"/>
              <a:t>영양</a:t>
            </a:r>
            <a:r>
              <a:rPr dirty="0"/>
              <a:t> </a:t>
            </a:r>
            <a:r>
              <a:rPr dirty="0" err="1"/>
              <a:t>관련성</a:t>
            </a:r>
            <a:r>
              <a:rPr dirty="0"/>
              <a:t> </a:t>
            </a:r>
            <a:r>
              <a:rPr dirty="0" err="1"/>
              <a:t>검증</a:t>
            </a:r>
            <a:r>
              <a:rPr dirty="0"/>
              <a:t> (Relevance Check):</a:t>
            </a:r>
            <a:br>
              <a:rPr dirty="0"/>
            </a:br>
            <a:r>
              <a:rPr dirty="0"/>
              <a:t>  </a:t>
            </a:r>
            <a:r>
              <a:rPr lang="ko-KR" altLang="en-US" dirty="0"/>
              <a:t>  </a:t>
            </a:r>
            <a:r>
              <a:rPr dirty="0"/>
              <a:t>• </a:t>
            </a:r>
            <a:r>
              <a:rPr dirty="0" err="1"/>
              <a:t>사용자</a:t>
            </a:r>
            <a:r>
              <a:rPr dirty="0"/>
              <a:t> </a:t>
            </a:r>
            <a:r>
              <a:rPr dirty="0" err="1"/>
              <a:t>식단</a:t>
            </a:r>
            <a:r>
              <a:rPr dirty="0"/>
              <a:t> ↔ DB </a:t>
            </a:r>
            <a:r>
              <a:rPr dirty="0" err="1"/>
              <a:t>조회</a:t>
            </a:r>
            <a:r>
              <a:rPr dirty="0"/>
              <a:t> </a:t>
            </a:r>
            <a:r>
              <a:rPr dirty="0" err="1"/>
              <a:t>식품</a:t>
            </a:r>
            <a:r>
              <a:rPr dirty="0"/>
              <a:t> </a:t>
            </a:r>
            <a:r>
              <a:rPr dirty="0" err="1"/>
              <a:t>일치</a:t>
            </a:r>
            <a:r>
              <a:rPr dirty="0"/>
              <a:t> </a:t>
            </a:r>
            <a:r>
              <a:rPr dirty="0" err="1"/>
              <a:t>여부</a:t>
            </a:r>
            <a:r>
              <a:rPr dirty="0"/>
              <a:t> </a:t>
            </a:r>
            <a:r>
              <a:rPr dirty="0" err="1"/>
              <a:t>판정</a:t>
            </a:r>
            <a:r>
              <a:rPr dirty="0"/>
              <a:t> (Yes/No)</a:t>
            </a:r>
            <a:br>
              <a:rPr dirty="0"/>
            </a:br>
            <a:r>
              <a:rPr dirty="0"/>
              <a:t>  </a:t>
            </a:r>
            <a:r>
              <a:rPr lang="ko-KR" altLang="en-US" dirty="0"/>
              <a:t>  </a:t>
            </a:r>
            <a:r>
              <a:rPr dirty="0"/>
              <a:t>• </a:t>
            </a:r>
            <a:r>
              <a:rPr dirty="0" err="1"/>
              <a:t>불일치</a:t>
            </a:r>
            <a:r>
              <a:rPr dirty="0"/>
              <a:t> </a:t>
            </a:r>
            <a:r>
              <a:rPr dirty="0" err="1"/>
              <a:t>시</a:t>
            </a:r>
            <a:r>
              <a:rPr dirty="0"/>
              <a:t> </a:t>
            </a:r>
            <a:r>
              <a:rPr dirty="0" err="1"/>
              <a:t>쿼리</a:t>
            </a:r>
            <a:r>
              <a:rPr dirty="0"/>
              <a:t> </a:t>
            </a:r>
            <a:r>
              <a:rPr dirty="0" err="1"/>
              <a:t>자동</a:t>
            </a:r>
            <a:r>
              <a:rPr dirty="0"/>
              <a:t> </a:t>
            </a:r>
            <a:r>
              <a:rPr dirty="0" err="1"/>
              <a:t>재작성</a:t>
            </a:r>
            <a:r>
              <a:rPr dirty="0"/>
              <a:t> (CRAG </a:t>
            </a:r>
            <a:r>
              <a:rPr dirty="0" err="1"/>
              <a:t>보정</a:t>
            </a:r>
            <a:r>
              <a:rPr dirty="0"/>
              <a:t>)</a:t>
            </a:r>
          </a:p>
          <a:p>
            <a:pPr>
              <a:lnSpc>
                <a:spcPct val="150000"/>
              </a:lnSpc>
              <a:spcAft>
                <a:spcPts val="600"/>
              </a:spcAft>
              <a:defRPr sz="1200">
                <a:solidFill>
                  <a:srgbClr val="334155"/>
                </a:solidFill>
                <a:latin typeface="Pretendard"/>
              </a:defRPr>
            </a:pPr>
            <a:r>
              <a:rPr dirty="0"/>
              <a:t>•  Gate 2. </a:t>
            </a:r>
            <a:r>
              <a:rPr dirty="0" err="1"/>
              <a:t>환각</a:t>
            </a:r>
            <a:r>
              <a:rPr dirty="0"/>
              <a:t> </a:t>
            </a:r>
            <a:r>
              <a:rPr dirty="0" err="1"/>
              <a:t>수치</a:t>
            </a:r>
            <a:r>
              <a:rPr dirty="0"/>
              <a:t> </a:t>
            </a:r>
            <a:r>
              <a:rPr dirty="0" err="1"/>
              <a:t>검출</a:t>
            </a:r>
            <a:r>
              <a:rPr dirty="0"/>
              <a:t> (Hallucination Grounding):</a:t>
            </a:r>
            <a:br>
              <a:rPr dirty="0"/>
            </a:br>
            <a:r>
              <a:rPr dirty="0"/>
              <a:t>  </a:t>
            </a:r>
            <a:r>
              <a:rPr lang="ko-KR" altLang="en-US" dirty="0"/>
              <a:t>  </a:t>
            </a:r>
            <a:r>
              <a:rPr dirty="0"/>
              <a:t>• </a:t>
            </a:r>
            <a:r>
              <a:rPr dirty="0" err="1"/>
              <a:t>칼로리</a:t>
            </a:r>
            <a:r>
              <a:rPr dirty="0"/>
              <a:t>/</a:t>
            </a:r>
            <a:r>
              <a:rPr dirty="0" err="1"/>
              <a:t>탄단지</a:t>
            </a:r>
            <a:r>
              <a:rPr dirty="0"/>
              <a:t> </a:t>
            </a:r>
            <a:r>
              <a:rPr dirty="0" err="1"/>
              <a:t>수치와</a:t>
            </a:r>
            <a:r>
              <a:rPr dirty="0"/>
              <a:t> DB </a:t>
            </a:r>
            <a:r>
              <a:rPr dirty="0" err="1"/>
              <a:t>실측치</a:t>
            </a:r>
            <a:r>
              <a:rPr dirty="0"/>
              <a:t> 100% </a:t>
            </a:r>
            <a:r>
              <a:rPr dirty="0" err="1"/>
              <a:t>일치</a:t>
            </a:r>
            <a:r>
              <a:rPr dirty="0"/>
              <a:t> </a:t>
            </a:r>
            <a:r>
              <a:rPr dirty="0" err="1"/>
              <a:t>검증</a:t>
            </a:r>
            <a:endParaRPr dirty="0"/>
          </a:p>
          <a:p>
            <a:pPr>
              <a:lnSpc>
                <a:spcPct val="150000"/>
              </a:lnSpc>
              <a:spcAft>
                <a:spcPts val="600"/>
              </a:spcAft>
              <a:defRPr sz="1200">
                <a:solidFill>
                  <a:srgbClr val="334155"/>
                </a:solidFill>
                <a:latin typeface="Pretendard"/>
              </a:defRPr>
            </a:pPr>
            <a:r>
              <a:rPr dirty="0"/>
              <a:t>•  Gate 3. </a:t>
            </a:r>
            <a:r>
              <a:rPr dirty="0" err="1"/>
              <a:t>임상</a:t>
            </a:r>
            <a:r>
              <a:rPr dirty="0"/>
              <a:t> </a:t>
            </a:r>
            <a:r>
              <a:rPr dirty="0" err="1"/>
              <a:t>안전</a:t>
            </a:r>
            <a:r>
              <a:rPr dirty="0"/>
              <a:t> </a:t>
            </a:r>
            <a:r>
              <a:rPr dirty="0" err="1"/>
              <a:t>가드레일</a:t>
            </a:r>
            <a:r>
              <a:rPr dirty="0"/>
              <a:t> (Clinical Safety):</a:t>
            </a:r>
            <a:br>
              <a:rPr dirty="0"/>
            </a:br>
            <a:r>
              <a:rPr dirty="0"/>
              <a:t>  </a:t>
            </a:r>
            <a:r>
              <a:rPr lang="ko-KR" altLang="en-US" dirty="0"/>
              <a:t>  </a:t>
            </a:r>
            <a:r>
              <a:rPr dirty="0"/>
              <a:t>• </a:t>
            </a:r>
            <a:r>
              <a:rPr dirty="0" err="1"/>
              <a:t>초저열량</a:t>
            </a:r>
            <a:r>
              <a:rPr dirty="0"/>
              <a:t> </a:t>
            </a:r>
            <a:r>
              <a:rPr dirty="0" err="1"/>
              <a:t>경고</a:t>
            </a:r>
            <a:r>
              <a:rPr dirty="0"/>
              <a:t> </a:t>
            </a:r>
            <a:r>
              <a:rPr dirty="0" err="1"/>
              <a:t>및</a:t>
            </a:r>
            <a:r>
              <a:rPr dirty="0"/>
              <a:t> </a:t>
            </a:r>
            <a:r>
              <a:rPr dirty="0" err="1"/>
              <a:t>의학적</a:t>
            </a:r>
            <a:r>
              <a:rPr dirty="0"/>
              <a:t> </a:t>
            </a:r>
            <a:r>
              <a:rPr dirty="0" err="1"/>
              <a:t>면책</a:t>
            </a:r>
            <a:r>
              <a:rPr dirty="0"/>
              <a:t> </a:t>
            </a:r>
            <a:r>
              <a:rPr dirty="0" err="1"/>
              <a:t>안내</a:t>
            </a:r>
            <a:r>
              <a:rPr dirty="0"/>
              <a:t> </a:t>
            </a:r>
            <a:r>
              <a:rPr dirty="0" err="1"/>
              <a:t>자동</a:t>
            </a:r>
            <a:r>
              <a:rPr dirty="0"/>
              <a:t> </a:t>
            </a:r>
            <a:r>
              <a:rPr dirty="0" err="1"/>
              <a:t>삽입</a:t>
            </a:r>
            <a:endParaRPr dirty="0"/>
          </a:p>
        </p:txBody>
      </p:sp>
      <p:sp>
        <p:nvSpPr>
          <p:cNvPr id="10" name="Rounded Rectangle 9"/>
          <p:cNvSpPr/>
          <p:nvPr/>
        </p:nvSpPr>
        <p:spPr>
          <a:xfrm>
            <a:off x="731520" y="4892040"/>
            <a:ext cx="10725912" cy="1325880"/>
          </a:xfrm>
          <a:prstGeom prst="roundRect">
            <a:avLst/>
          </a:prstGeom>
          <a:solidFill>
            <a:srgbClr val="F1F5F9"/>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5056632"/>
            <a:ext cx="10268712" cy="996696"/>
          </a:xfrm>
          <a:prstGeom prst="rect">
            <a:avLst/>
          </a:prstGeom>
          <a:noFill/>
        </p:spPr>
        <p:txBody>
          <a:bodyPr wrap="square" lIns="0" tIns="0" rIns="0" bIns="0">
            <a:spAutoFit/>
          </a:bodyPr>
          <a:lstStyle/>
          <a:p>
            <a:pPr>
              <a:spcAft>
                <a:spcPts val="300"/>
              </a:spcAft>
              <a:defRPr sz="1250" b="1">
                <a:solidFill>
                  <a:srgbClr val="0066CC"/>
                </a:solidFill>
                <a:latin typeface="Pretendard"/>
              </a:defRPr>
            </a:pPr>
            <a:r>
              <a:rPr dirty="0"/>
              <a:t>💡 </a:t>
            </a:r>
            <a:r>
              <a:rPr dirty="0" err="1"/>
              <a:t>철저한</a:t>
            </a:r>
            <a:r>
              <a:rPr dirty="0"/>
              <a:t> </a:t>
            </a:r>
            <a:r>
              <a:rPr dirty="0" err="1"/>
              <a:t>환각</a:t>
            </a:r>
            <a:r>
              <a:rPr dirty="0"/>
              <a:t> </a:t>
            </a:r>
            <a:r>
              <a:rPr dirty="0" err="1"/>
              <a:t>통제</a:t>
            </a:r>
            <a:r>
              <a:rPr dirty="0"/>
              <a:t> (Zero-Hallucination Verified)</a:t>
            </a:r>
          </a:p>
          <a:p>
            <a:pPr>
              <a:defRPr sz="1100">
                <a:solidFill>
                  <a:srgbClr val="0F172A"/>
                </a:solidFill>
                <a:latin typeface="Pretendard"/>
              </a:defRPr>
            </a:pPr>
            <a:r>
              <a:rPr dirty="0"/>
              <a:t>LLM-as-a-Judge </a:t>
            </a:r>
            <a:r>
              <a:rPr dirty="0" err="1"/>
              <a:t>평가를</a:t>
            </a:r>
            <a:r>
              <a:rPr dirty="0"/>
              <a:t> </a:t>
            </a:r>
            <a:r>
              <a:rPr dirty="0" err="1"/>
              <a:t>통해</a:t>
            </a:r>
            <a:r>
              <a:rPr dirty="0"/>
              <a:t> </a:t>
            </a:r>
            <a:r>
              <a:rPr dirty="0" err="1"/>
              <a:t>관련성</a:t>
            </a:r>
            <a:r>
              <a:rPr dirty="0"/>
              <a:t>, </a:t>
            </a:r>
            <a:r>
              <a:rPr dirty="0" err="1"/>
              <a:t>사실</a:t>
            </a:r>
            <a:r>
              <a:rPr dirty="0"/>
              <a:t> </a:t>
            </a:r>
            <a:r>
              <a:rPr dirty="0" err="1"/>
              <a:t>근거성</a:t>
            </a:r>
            <a:r>
              <a:rPr dirty="0"/>
              <a:t>, </a:t>
            </a:r>
            <a:r>
              <a:rPr dirty="0" err="1"/>
              <a:t>임상</a:t>
            </a:r>
            <a:r>
              <a:rPr dirty="0"/>
              <a:t> </a:t>
            </a:r>
            <a:r>
              <a:rPr dirty="0" err="1"/>
              <a:t>안전성을</a:t>
            </a:r>
            <a:r>
              <a:rPr dirty="0"/>
              <a:t> 3중 </a:t>
            </a:r>
            <a:r>
              <a:rPr dirty="0" err="1"/>
              <a:t>검증하여</a:t>
            </a:r>
            <a:r>
              <a:rPr dirty="0"/>
              <a:t> </a:t>
            </a:r>
            <a:r>
              <a:rPr dirty="0" err="1"/>
              <a:t>안전한</a:t>
            </a:r>
            <a:r>
              <a:rPr dirty="0"/>
              <a:t> </a:t>
            </a:r>
            <a:r>
              <a:rPr dirty="0" err="1"/>
              <a:t>답변만</a:t>
            </a:r>
            <a:r>
              <a:rPr dirty="0"/>
              <a:t> </a:t>
            </a:r>
            <a:r>
              <a:rPr dirty="0" err="1"/>
              <a:t>제공합니다</a:t>
            </a:r>
            <a:r>
              <a:rPr dirty="0"/>
              <a:t>.</a:t>
            </a:r>
          </a:p>
        </p:txBody>
      </p:sp>
      <p:pic>
        <p:nvPicPr>
          <p:cNvPr id="12" name="그림 11">
            <a:extLst>
              <a:ext uri="{FF2B5EF4-FFF2-40B4-BE49-F238E27FC236}">
                <a16:creationId xmlns:a16="http://schemas.microsoft.com/office/drawing/2014/main" id="{B4107C64-CF97-26C2-147B-CAA830505B50}"/>
              </a:ext>
            </a:extLst>
          </p:cNvPr>
          <p:cNvPicPr>
            <a:picLocks noChangeAspect="1"/>
          </p:cNvPicPr>
          <p:nvPr/>
        </p:nvPicPr>
        <p:blipFill>
          <a:blip r:embed="rId2"/>
          <a:stretch>
            <a:fillRect/>
          </a:stretch>
        </p:blipFill>
        <p:spPr>
          <a:xfrm>
            <a:off x="731521" y="1819656"/>
            <a:ext cx="5439776" cy="220370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DB26F-6612-90FC-1BC4-622AB764234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E01F338-FFB8-ABB8-614D-7915B7760CC0}"/>
              </a:ext>
            </a:extLst>
          </p:cNvPr>
          <p:cNvSpPr/>
          <p:nvPr/>
        </p:nvSpPr>
        <p:spPr>
          <a:xfrm>
            <a:off x="305" y="298383"/>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B118950-C610-7C36-93B2-8DF489B91FC9}"/>
              </a:ext>
            </a:extLst>
          </p:cNvPr>
          <p:cNvSpPr txBox="1"/>
          <p:nvPr/>
        </p:nvSpPr>
        <p:spPr>
          <a:xfrm>
            <a:off x="731520" y="411480"/>
            <a:ext cx="10725912" cy="274320"/>
          </a:xfrm>
          <a:prstGeom prst="rect">
            <a:avLst/>
          </a:prstGeom>
          <a:noFill/>
        </p:spPr>
        <p:txBody>
          <a:bodyPr wrap="square" lIns="0" tIns="0" rIns="0" bIns="0">
            <a:spAutoFit/>
          </a:bodyPr>
          <a:lstStyle/>
          <a:p>
            <a:pPr>
              <a:defRPr sz="1050" b="1">
                <a:solidFill>
                  <a:srgbClr val="0066CC"/>
                </a:solidFill>
                <a:latin typeface="Pretendard"/>
              </a:defRPr>
            </a:pPr>
            <a:r>
              <a:t>NOTEBOOK CELL 9</a:t>
            </a:r>
          </a:p>
        </p:txBody>
      </p:sp>
      <p:sp>
        <p:nvSpPr>
          <p:cNvPr id="4" name="TextBox 3">
            <a:extLst>
              <a:ext uri="{FF2B5EF4-FFF2-40B4-BE49-F238E27FC236}">
                <a16:creationId xmlns:a16="http://schemas.microsoft.com/office/drawing/2014/main" id="{961F111A-B7DF-B5D9-CF1F-E30B465C7E53}"/>
              </a:ext>
            </a:extLst>
          </p:cNvPr>
          <p:cNvSpPr txBox="1"/>
          <p:nvPr/>
        </p:nvSpPr>
        <p:spPr>
          <a:xfrm>
            <a:off x="731520" y="685800"/>
            <a:ext cx="10725912" cy="411480"/>
          </a:xfrm>
          <a:prstGeom prst="rect">
            <a:avLst/>
          </a:prstGeom>
          <a:noFill/>
        </p:spPr>
        <p:txBody>
          <a:bodyPr wrap="square" lIns="0" tIns="0" rIns="0" bIns="0">
            <a:spAutoFit/>
          </a:bodyPr>
          <a:lstStyle/>
          <a:p>
            <a:pPr>
              <a:defRPr sz="2200" b="1">
                <a:solidFill>
                  <a:srgbClr val="0F172A"/>
                </a:solidFill>
                <a:latin typeface="Pretendard"/>
              </a:defRPr>
            </a:pPr>
            <a:r>
              <a:t>[Cell 9] Self-RAG 3단계 품질 게이트 (LLM-as-a-Judge)</a:t>
            </a:r>
          </a:p>
        </p:txBody>
      </p:sp>
      <p:sp>
        <p:nvSpPr>
          <p:cNvPr id="5" name="TextBox 4">
            <a:extLst>
              <a:ext uri="{FF2B5EF4-FFF2-40B4-BE49-F238E27FC236}">
                <a16:creationId xmlns:a16="http://schemas.microsoft.com/office/drawing/2014/main" id="{82AC8EFA-5027-D101-60BD-8B10B07ADE0E}"/>
              </a:ext>
            </a:extLst>
          </p:cNvPr>
          <p:cNvSpPr txBox="1"/>
          <p:nvPr/>
        </p:nvSpPr>
        <p:spPr>
          <a:xfrm>
            <a:off x="731520" y="1097280"/>
            <a:ext cx="10725912" cy="320040"/>
          </a:xfrm>
          <a:prstGeom prst="rect">
            <a:avLst/>
          </a:prstGeom>
          <a:noFill/>
        </p:spPr>
        <p:txBody>
          <a:bodyPr wrap="square" lIns="0" tIns="0" rIns="0" bIns="0">
            <a:spAutoFit/>
          </a:bodyPr>
          <a:lstStyle/>
          <a:p>
            <a:pPr>
              <a:defRPr sz="1200">
                <a:solidFill>
                  <a:srgbClr val="64748B"/>
                </a:solidFill>
                <a:latin typeface="Pretendard"/>
              </a:defRPr>
            </a:pPr>
            <a:r>
              <a:t>관련성(Relevance) ➔ 환각 검출(Grounding) ➔ 임상 안전성(Safety) 3중 검증 실측</a:t>
            </a:r>
          </a:p>
        </p:txBody>
      </p:sp>
      <p:pic>
        <p:nvPicPr>
          <p:cNvPr id="6" name="그림 5">
            <a:extLst>
              <a:ext uri="{FF2B5EF4-FFF2-40B4-BE49-F238E27FC236}">
                <a16:creationId xmlns:a16="http://schemas.microsoft.com/office/drawing/2014/main" id="{62BCD05B-0EF8-587C-A63C-7B9D4C00F1AE}"/>
              </a:ext>
            </a:extLst>
          </p:cNvPr>
          <p:cNvPicPr>
            <a:picLocks noChangeAspect="1"/>
          </p:cNvPicPr>
          <p:nvPr/>
        </p:nvPicPr>
        <p:blipFill>
          <a:blip r:embed="rId2"/>
          <a:stretch>
            <a:fillRect/>
          </a:stretch>
        </p:blipFill>
        <p:spPr>
          <a:xfrm>
            <a:off x="731520" y="2354807"/>
            <a:ext cx="5274644" cy="2401049"/>
          </a:xfrm>
          <a:prstGeom prst="rect">
            <a:avLst/>
          </a:prstGeom>
        </p:spPr>
      </p:pic>
      <p:sp>
        <p:nvSpPr>
          <p:cNvPr id="7" name="Rounded Rectangle 7">
            <a:extLst>
              <a:ext uri="{FF2B5EF4-FFF2-40B4-BE49-F238E27FC236}">
                <a16:creationId xmlns:a16="http://schemas.microsoft.com/office/drawing/2014/main" id="{40D09BD8-FA23-01BE-31B1-A929505712DF}"/>
              </a:ext>
            </a:extLst>
          </p:cNvPr>
          <p:cNvSpPr/>
          <p:nvPr/>
        </p:nvSpPr>
        <p:spPr>
          <a:xfrm>
            <a:off x="6227064" y="2002972"/>
            <a:ext cx="5230368" cy="3108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B610471A-D7EA-E46E-469E-AA884E60E08E}"/>
              </a:ext>
            </a:extLst>
          </p:cNvPr>
          <p:cNvSpPr txBox="1"/>
          <p:nvPr/>
        </p:nvSpPr>
        <p:spPr>
          <a:xfrm>
            <a:off x="6483096" y="2222428"/>
            <a:ext cx="4718304" cy="1577996"/>
          </a:xfrm>
          <a:prstGeom prst="rect">
            <a:avLst/>
          </a:prstGeom>
          <a:noFill/>
        </p:spPr>
        <p:txBody>
          <a:bodyPr wrap="square" lIns="0" tIns="0" rIns="0" bIns="0">
            <a:spAutoFit/>
          </a:bodyPr>
          <a:lstStyle/>
          <a:p>
            <a:pPr marL="171450" indent="-171450">
              <a:lnSpc>
                <a:spcPct val="200000"/>
              </a:lnSpc>
              <a:spcAft>
                <a:spcPts val="600"/>
              </a:spcAft>
              <a:buFontTx/>
              <a:buChar char="-"/>
              <a:defRPr sz="1200">
                <a:solidFill>
                  <a:srgbClr val="334155"/>
                </a:solidFill>
                <a:latin typeface="Pretendard"/>
              </a:defRPr>
            </a:pPr>
            <a:r>
              <a:rPr lang="en" altLang="ko-KR" sz="1200" dirty="0">
                <a:solidFill>
                  <a:srgbClr val="334155"/>
                </a:solidFill>
                <a:latin typeface="Pretendard"/>
              </a:rPr>
              <a:t>AI</a:t>
            </a:r>
            <a:r>
              <a:rPr lang="ko-KR" altLang="en-US" sz="1200" dirty="0">
                <a:solidFill>
                  <a:srgbClr val="334155"/>
                </a:solidFill>
                <a:latin typeface="Pretendard"/>
              </a:rPr>
              <a:t>가 엉뚱한 음식을 가져오거나</a:t>
            </a:r>
            <a:r>
              <a:rPr lang="en-US" altLang="ko-KR" sz="1200" dirty="0">
                <a:solidFill>
                  <a:srgbClr val="334155"/>
                </a:solidFill>
                <a:latin typeface="Pretendard"/>
              </a:rPr>
              <a:t>(</a:t>
            </a:r>
            <a:r>
              <a:rPr lang="en" altLang="ko-KR" sz="1200" dirty="0">
                <a:solidFill>
                  <a:srgbClr val="334155"/>
                </a:solidFill>
                <a:latin typeface="Pretendard"/>
              </a:rPr>
              <a:t>Gate 1), </a:t>
            </a:r>
          </a:p>
          <a:p>
            <a:pPr marL="171450" indent="-171450">
              <a:lnSpc>
                <a:spcPct val="200000"/>
              </a:lnSpc>
              <a:spcAft>
                <a:spcPts val="600"/>
              </a:spcAft>
              <a:buFontTx/>
              <a:buChar char="-"/>
              <a:defRPr sz="1200">
                <a:solidFill>
                  <a:srgbClr val="334155"/>
                </a:solidFill>
                <a:latin typeface="Pretendard"/>
              </a:defRPr>
            </a:pPr>
            <a:r>
              <a:rPr lang="ko-KR" altLang="en-US" sz="1200" dirty="0">
                <a:solidFill>
                  <a:srgbClr val="334155"/>
                </a:solidFill>
                <a:latin typeface="Pretendard"/>
              </a:rPr>
              <a:t>숫자를 맘대로 지어내거나</a:t>
            </a:r>
            <a:r>
              <a:rPr lang="en-US" altLang="ko-KR" sz="1200" dirty="0">
                <a:solidFill>
                  <a:srgbClr val="334155"/>
                </a:solidFill>
                <a:latin typeface="Pretendard"/>
              </a:rPr>
              <a:t>(</a:t>
            </a:r>
            <a:r>
              <a:rPr lang="en" altLang="ko-KR" sz="1200" dirty="0">
                <a:solidFill>
                  <a:srgbClr val="334155"/>
                </a:solidFill>
                <a:latin typeface="Pretendard"/>
              </a:rPr>
              <a:t>Gate 2),</a:t>
            </a:r>
          </a:p>
          <a:p>
            <a:pPr marL="171450" indent="-171450">
              <a:lnSpc>
                <a:spcPct val="200000"/>
              </a:lnSpc>
              <a:spcAft>
                <a:spcPts val="600"/>
              </a:spcAft>
              <a:buFontTx/>
              <a:buChar char="-"/>
              <a:defRPr sz="1200">
                <a:solidFill>
                  <a:srgbClr val="334155"/>
                </a:solidFill>
                <a:latin typeface="Pretendard"/>
              </a:defRPr>
            </a:pPr>
            <a:r>
              <a:rPr lang="ko-KR" altLang="en-US" sz="1200" dirty="0">
                <a:solidFill>
                  <a:srgbClr val="334155"/>
                </a:solidFill>
                <a:latin typeface="Pretendard"/>
              </a:rPr>
              <a:t>사용자가 거식증에 걸릴 정도로 굶는 식단을 말했을 때</a:t>
            </a:r>
            <a:r>
              <a:rPr lang="en-US" altLang="ko-KR" sz="1200" dirty="0">
                <a:solidFill>
                  <a:srgbClr val="334155"/>
                </a:solidFill>
                <a:latin typeface="Pretendard"/>
              </a:rPr>
              <a:t>(</a:t>
            </a:r>
            <a:r>
              <a:rPr lang="en" altLang="ko-KR" sz="1200" dirty="0">
                <a:solidFill>
                  <a:srgbClr val="334155"/>
                </a:solidFill>
                <a:latin typeface="Pretendard"/>
              </a:rPr>
              <a:t>Gate 3)</a:t>
            </a:r>
            <a:r>
              <a:rPr lang="ko-KR" altLang="en-US" sz="1200" dirty="0" err="1">
                <a:solidFill>
                  <a:srgbClr val="334155"/>
                </a:solidFill>
                <a:latin typeface="Pretendard"/>
              </a:rPr>
              <a:t>를</a:t>
            </a:r>
            <a:r>
              <a:rPr lang="ko-KR" altLang="en-US" sz="1200" dirty="0">
                <a:solidFill>
                  <a:srgbClr val="334155"/>
                </a:solidFill>
                <a:latin typeface="Pretendard"/>
              </a:rPr>
              <a:t> </a:t>
            </a:r>
            <a:r>
              <a:rPr lang="ko-KR" altLang="en-US" sz="1200" b="1" dirty="0">
                <a:solidFill>
                  <a:srgbClr val="334155"/>
                </a:solidFill>
                <a:latin typeface="Pretendard"/>
              </a:rPr>
              <a:t>사전에 </a:t>
            </a:r>
            <a:r>
              <a:rPr lang="en-US" altLang="ko-KR" sz="1200" b="1" dirty="0">
                <a:solidFill>
                  <a:srgbClr val="334155"/>
                </a:solidFill>
                <a:latin typeface="Pretendard"/>
              </a:rPr>
              <a:t>3</a:t>
            </a:r>
            <a:r>
              <a:rPr lang="ko-KR" altLang="en-US" sz="1200" b="1" dirty="0">
                <a:solidFill>
                  <a:srgbClr val="334155"/>
                </a:solidFill>
                <a:latin typeface="Pretendard"/>
              </a:rPr>
              <a:t>중으로 차단하여 </a:t>
            </a:r>
            <a:r>
              <a:rPr lang="en-US" altLang="ko-KR" sz="1200" b="1" dirty="0">
                <a:solidFill>
                  <a:srgbClr val="334155"/>
                </a:solidFill>
                <a:latin typeface="Pretendard"/>
              </a:rPr>
              <a:t>100% </a:t>
            </a:r>
            <a:r>
              <a:rPr lang="ko-KR" altLang="en-US" sz="1200" b="1" dirty="0">
                <a:solidFill>
                  <a:srgbClr val="334155"/>
                </a:solidFill>
                <a:latin typeface="Pretendard"/>
              </a:rPr>
              <a:t>안전한 코칭을 보장</a:t>
            </a:r>
            <a:r>
              <a:rPr lang="ko-KR" altLang="en-US" sz="1200" dirty="0">
                <a:solidFill>
                  <a:srgbClr val="334155"/>
                </a:solidFill>
                <a:latin typeface="Pretendard"/>
              </a:rPr>
              <a:t>하기 위함</a:t>
            </a:r>
            <a:endParaRPr lang="ko-KR" altLang="en-US" dirty="0"/>
          </a:p>
        </p:txBody>
      </p:sp>
    </p:spTree>
    <p:extLst>
      <p:ext uri="{BB962C8B-B14F-4D97-AF65-F5344CB8AC3E}">
        <p14:creationId xmlns:p14="http://schemas.microsoft.com/office/powerpoint/2010/main" val="2092395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5912" cy="274320"/>
          </a:xfrm>
          <a:prstGeom prst="rect">
            <a:avLst/>
          </a:prstGeom>
          <a:noFill/>
        </p:spPr>
        <p:txBody>
          <a:bodyPr wrap="square" lIns="0" tIns="0" rIns="0" bIns="0">
            <a:spAutoFit/>
          </a:bodyPr>
          <a:lstStyle/>
          <a:p>
            <a:pPr>
              <a:defRPr sz="1050" b="1">
                <a:solidFill>
                  <a:srgbClr val="0066CC"/>
                </a:solidFill>
                <a:latin typeface="Pretendard"/>
              </a:defRPr>
            </a:pPr>
            <a:r>
              <a:t>NOTEBOOK CELL 7</a:t>
            </a:r>
          </a:p>
        </p:txBody>
      </p:sp>
      <p:sp>
        <p:nvSpPr>
          <p:cNvPr id="4" name="TextBox 3"/>
          <p:cNvSpPr txBox="1"/>
          <p:nvPr/>
        </p:nvSpPr>
        <p:spPr>
          <a:xfrm>
            <a:off x="731520" y="685800"/>
            <a:ext cx="10725912" cy="338554"/>
          </a:xfrm>
          <a:prstGeom prst="rect">
            <a:avLst/>
          </a:prstGeom>
          <a:noFill/>
        </p:spPr>
        <p:txBody>
          <a:bodyPr wrap="square" lIns="0" tIns="0" rIns="0" bIns="0">
            <a:spAutoFit/>
          </a:bodyPr>
          <a:lstStyle/>
          <a:p>
            <a:pPr>
              <a:defRPr sz="2200" b="1">
                <a:solidFill>
                  <a:srgbClr val="0F172A"/>
                </a:solidFill>
                <a:latin typeface="Pretendard"/>
              </a:defRPr>
            </a:pPr>
            <a:r>
              <a:rPr lang="en-US" dirty="0"/>
              <a:t>Human-In-the-loop</a:t>
            </a:r>
            <a:endParaRPr dirty="0"/>
          </a:p>
        </p:txBody>
      </p:sp>
      <p:sp>
        <p:nvSpPr>
          <p:cNvPr id="8" name="Rounded Rectangle 7"/>
          <p:cNvSpPr/>
          <p:nvPr/>
        </p:nvSpPr>
        <p:spPr>
          <a:xfrm>
            <a:off x="7780630" y="1396998"/>
            <a:ext cx="3676801" cy="4971904"/>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91377" y="1616455"/>
            <a:ext cx="3110023" cy="3908762"/>
          </a:xfrm>
          <a:prstGeom prst="rect">
            <a:avLst/>
          </a:prstGeom>
          <a:noFill/>
        </p:spPr>
        <p:txBody>
          <a:bodyPr wrap="square" lIns="0" tIns="0" rIns="0" bIns="0">
            <a:spAutoFit/>
          </a:bodyPr>
          <a:lstStyle/>
          <a:p>
            <a:pPr>
              <a:spcAft>
                <a:spcPts val="600"/>
              </a:spcAft>
              <a:defRPr sz="1100" b="1">
                <a:solidFill>
                  <a:srgbClr val="0F172A"/>
                </a:solidFill>
                <a:latin typeface="Pretendard"/>
              </a:defRPr>
            </a:pPr>
            <a:r>
              <a:t>1. [사용자 복합 입력] '점심에 제육볶음 먹고 40분 러닝했어!'</a:t>
            </a:r>
          </a:p>
          <a:p>
            <a:pPr>
              <a:defRPr sz="1000" b="0">
                <a:solidFill>
                  <a:srgbClr val="0F172A"/>
                </a:solidFill>
                <a:latin typeface="Pretendard"/>
              </a:defRPr>
            </a:pPr>
            <a:r>
              <a:t>↓</a:t>
            </a:r>
          </a:p>
          <a:p>
            <a:pPr>
              <a:defRPr sz="1000" b="0">
                <a:solidFill>
                  <a:srgbClr val="0F172A"/>
                </a:solidFill>
                <a:latin typeface="Pretendard"/>
              </a:defRPr>
            </a:pPr>
            <a:r>
              <a:t>2. [ReAct 병렬 도구 호출] 식약처 FTS5(550kcal) + ACSM METs(416.5kcal)</a:t>
            </a:r>
          </a:p>
          <a:p>
            <a:pPr>
              <a:defRPr sz="1000" b="0">
                <a:solidFill>
                  <a:srgbClr val="0F172A"/>
                </a:solidFill>
                <a:latin typeface="Pretendard"/>
              </a:defRPr>
            </a:pPr>
            <a:r>
              <a:t>↓</a:t>
            </a:r>
          </a:p>
          <a:p>
            <a:pPr>
              <a:defRPr sz="1000" b="0">
                <a:solidFill>
                  <a:srgbClr val="0F172A"/>
                </a:solidFill>
                <a:latin typeface="Pretendard"/>
              </a:defRPr>
            </a:pPr>
            <a:r>
              <a:t>3. [re.findall 다중 파서] MEAL_DATA &amp; EXERCISE_DATA 100% 분리</a:t>
            </a:r>
          </a:p>
          <a:p>
            <a:pPr>
              <a:defRPr sz="1000" b="0">
                <a:solidFill>
                  <a:srgbClr val="0F172A"/>
                </a:solidFill>
                <a:latin typeface="Pretendard"/>
              </a:defRPr>
            </a:pPr>
            <a:r>
              <a:t>↓</a:t>
            </a:r>
          </a:p>
          <a:p>
            <a:pPr>
              <a:defRPr sz="1000" b="0">
                <a:solidFill>
                  <a:srgbClr val="0066CC"/>
                </a:solidFill>
                <a:latin typeface="Pretendard"/>
              </a:defRPr>
            </a:pPr>
            <a:r>
              <a:t>4. ⭐ [Human-in-the-Loop 2열 멀티 카드 동시 렌더링!]</a:t>
            </a:r>
          </a:p>
          <a:p>
            <a:pPr>
              <a:defRPr sz="1000" b="0">
                <a:solidFill>
                  <a:srgbClr val="0F172A"/>
                </a:solidFill>
                <a:latin typeface="Pretendard"/>
              </a:defRPr>
            </a:pPr>
            <a:r>
              <a:t>   • 좌측: 🍱 [식단 저장 카드] (제육볶음 550kcal + 아코디언 수동 보정)</a:t>
            </a:r>
          </a:p>
          <a:p>
            <a:pPr>
              <a:defRPr sz="1000" b="0">
                <a:solidFill>
                  <a:srgbClr val="0F172A"/>
                </a:solidFill>
                <a:latin typeface="Pretendard"/>
              </a:defRPr>
            </a:pPr>
            <a:r>
              <a:t>   • 우측: 🔥 [운동 저장 카드] (러닝 40분 416.5kcal 소모)</a:t>
            </a:r>
          </a:p>
          <a:p>
            <a:pPr>
              <a:defRPr sz="1000" b="0">
                <a:solidFill>
                  <a:srgbClr val="0F172A"/>
                </a:solidFill>
                <a:latin typeface="Pretendard"/>
              </a:defRPr>
            </a:pPr>
            <a:r>
              <a:t>   • 상단: ⚡ [식단 &amp; 운동 한 번에 DB 동시 저장] 마스터 버튼</a:t>
            </a:r>
          </a:p>
          <a:p>
            <a:pPr>
              <a:defRPr sz="1000" b="0">
                <a:solidFill>
                  <a:srgbClr val="0F172A"/>
                </a:solidFill>
                <a:latin typeface="Pretendard"/>
              </a:defRPr>
            </a:pPr>
            <a:r>
              <a:t>↓</a:t>
            </a:r>
          </a:p>
          <a:p>
            <a:pPr>
              <a:defRPr sz="1000" b="0">
                <a:solidFill>
                  <a:srgbClr val="0F172A"/>
                </a:solidFill>
                <a:latin typeface="Pretendard"/>
              </a:defRPr>
            </a:pPr>
            <a:r>
              <a:t>5. [트랜잭션 DB 동시 저장] 순 칼로리(133.5kcal) 대시보드 자동 반영</a:t>
            </a:r>
          </a:p>
        </p:txBody>
      </p:sp>
      <p:sp>
        <p:nvSpPr>
          <p:cNvPr id="11" name="TextBox 10"/>
          <p:cNvSpPr txBox="1"/>
          <p:nvPr/>
        </p:nvSpPr>
        <p:spPr>
          <a:xfrm>
            <a:off x="960120" y="5056632"/>
            <a:ext cx="10268712" cy="996696"/>
          </a:xfrm>
          <a:prstGeom prst="rect">
            <a:avLst/>
          </a:prstGeom>
          <a:noFill/>
        </p:spPr>
        <p:txBody>
          <a:bodyPr wrap="square" lIns="0" tIns="0" rIns="0" bIns="0">
            <a:spAutoFit/>
          </a:bodyPr>
          <a:lstStyle/>
          <a:p>
            <a:pPr>
              <a:spcAft>
                <a:spcPts val="300"/>
              </a:spcAft>
              <a:defRPr sz="1250" b="1">
                <a:solidFill>
                  <a:srgbClr val="0066CC"/>
                </a:solidFill>
                <a:latin typeface="Pretendard"/>
              </a:defRPr>
            </a:pPr>
            <a:r>
              <a:t>💡 정형 데이터 자동 추출 (Structured Data Extraction)</a:t>
            </a:r>
          </a:p>
          <a:p>
            <a:pPr>
              <a:defRPr sz="1100">
                <a:solidFill>
                  <a:srgbClr val="0F172A"/>
                </a:solidFill>
                <a:latin typeface="Pretendard"/>
              </a:defRPr>
            </a:pPr>
            <a:r>
              <a:t>자연어 답변에서 정형 JSON 데이터를 완벽히 분리하여 사용자의 원클릭 DB 저장을 지원합니다.</a:t>
            </a:r>
          </a:p>
        </p:txBody>
      </p:sp>
      <p:pic>
        <p:nvPicPr>
          <p:cNvPr id="12" name="그림 11">
            <a:extLst>
              <a:ext uri="{FF2B5EF4-FFF2-40B4-BE49-F238E27FC236}">
                <a16:creationId xmlns:a16="http://schemas.microsoft.com/office/drawing/2014/main" id="{ABF7E9F4-8BF1-CFF5-AAA9-1329C2CE5528}"/>
              </a:ext>
            </a:extLst>
          </p:cNvPr>
          <p:cNvPicPr>
            <a:picLocks noChangeAspect="1"/>
          </p:cNvPicPr>
          <p:nvPr/>
        </p:nvPicPr>
        <p:blipFill>
          <a:blip r:embed="rId2"/>
          <a:stretch>
            <a:fillRect/>
          </a:stretch>
        </p:blipFill>
        <p:spPr>
          <a:xfrm>
            <a:off x="731520" y="1371600"/>
            <a:ext cx="6820510" cy="39978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241069"/>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725912" cy="274320"/>
          </a:xfrm>
          <a:prstGeom prst="rect">
            <a:avLst/>
          </a:prstGeom>
          <a:noFill/>
        </p:spPr>
        <p:txBody>
          <a:bodyPr wrap="square" lIns="0" tIns="0" rIns="0" bIns="0">
            <a:spAutoFit/>
          </a:bodyPr>
          <a:lstStyle/>
          <a:p>
            <a:pPr>
              <a:defRPr sz="1050" b="1">
                <a:solidFill>
                  <a:srgbClr val="0066CC"/>
                </a:solidFill>
                <a:latin typeface="Pretendard"/>
              </a:defRPr>
            </a:pPr>
            <a:r>
              <a:t>TROUBLESHOOTING 1</a:t>
            </a:r>
          </a:p>
        </p:txBody>
      </p:sp>
      <p:sp>
        <p:nvSpPr>
          <p:cNvPr id="4" name="TextBox 3"/>
          <p:cNvSpPr txBox="1"/>
          <p:nvPr/>
        </p:nvSpPr>
        <p:spPr>
          <a:xfrm>
            <a:off x="731520" y="685800"/>
            <a:ext cx="10725912" cy="338554"/>
          </a:xfrm>
          <a:prstGeom prst="rect">
            <a:avLst/>
          </a:prstGeom>
          <a:noFill/>
        </p:spPr>
        <p:txBody>
          <a:bodyPr wrap="square" lIns="0" tIns="0" rIns="0" bIns="0">
            <a:spAutoFit/>
          </a:bodyPr>
          <a:lstStyle/>
          <a:p>
            <a:pPr>
              <a:defRPr sz="2200" b="1">
                <a:solidFill>
                  <a:srgbClr val="0F172A"/>
                </a:solidFill>
                <a:latin typeface="Pretendard"/>
              </a:defRPr>
            </a:pPr>
            <a:r>
              <a:rPr dirty="0" err="1"/>
              <a:t>트러블슈팅</a:t>
            </a:r>
            <a:r>
              <a:rPr lang="ko-KR" altLang="en-US" dirty="0"/>
              <a:t> </a:t>
            </a:r>
            <a:r>
              <a:rPr dirty="0"/>
              <a:t>: 503/429/404 </a:t>
            </a:r>
            <a:r>
              <a:rPr dirty="0" err="1"/>
              <a:t>다중</a:t>
            </a:r>
            <a:r>
              <a:rPr dirty="0"/>
              <a:t> </a:t>
            </a:r>
            <a:r>
              <a:rPr dirty="0" err="1"/>
              <a:t>모델</a:t>
            </a:r>
            <a:r>
              <a:rPr dirty="0"/>
              <a:t> </a:t>
            </a:r>
            <a:r>
              <a:rPr dirty="0" err="1"/>
              <a:t>복원력</a:t>
            </a:r>
            <a:endParaRPr dirty="0"/>
          </a:p>
        </p:txBody>
      </p:sp>
      <p:sp>
        <p:nvSpPr>
          <p:cNvPr id="5" name="TextBox 4"/>
          <p:cNvSpPr txBox="1"/>
          <p:nvPr/>
        </p:nvSpPr>
        <p:spPr>
          <a:xfrm>
            <a:off x="731520" y="1097280"/>
            <a:ext cx="10725912" cy="320040"/>
          </a:xfrm>
          <a:prstGeom prst="rect">
            <a:avLst/>
          </a:prstGeom>
          <a:noFill/>
        </p:spPr>
        <p:txBody>
          <a:bodyPr wrap="square" lIns="0" tIns="0" rIns="0" bIns="0">
            <a:spAutoFit/>
          </a:bodyPr>
          <a:lstStyle/>
          <a:p>
            <a:pPr>
              <a:defRPr sz="1200">
                <a:solidFill>
                  <a:srgbClr val="64748B"/>
                </a:solidFill>
                <a:latin typeface="Pretendard"/>
              </a:defRPr>
            </a:pPr>
            <a:r>
              <a:rPr dirty="0" err="1"/>
              <a:t>구글</a:t>
            </a:r>
            <a:r>
              <a:rPr dirty="0"/>
              <a:t> API </a:t>
            </a:r>
            <a:r>
              <a:rPr dirty="0" err="1"/>
              <a:t>과부하</a:t>
            </a:r>
            <a:r>
              <a:rPr dirty="0"/>
              <a:t>, </a:t>
            </a:r>
            <a:r>
              <a:rPr dirty="0" err="1"/>
              <a:t>속도</a:t>
            </a:r>
            <a:r>
              <a:rPr dirty="0"/>
              <a:t> </a:t>
            </a:r>
            <a:r>
              <a:rPr dirty="0" err="1"/>
              <a:t>제한</a:t>
            </a:r>
            <a:r>
              <a:rPr dirty="0"/>
              <a:t>, </a:t>
            </a:r>
            <a:r>
              <a:rPr dirty="0" err="1"/>
              <a:t>구모델</a:t>
            </a:r>
            <a:r>
              <a:rPr dirty="0"/>
              <a:t> </a:t>
            </a:r>
            <a:r>
              <a:rPr dirty="0" err="1"/>
              <a:t>폐기</a:t>
            </a:r>
            <a:r>
              <a:rPr dirty="0"/>
              <a:t> </a:t>
            </a:r>
            <a:r>
              <a:rPr dirty="0" err="1"/>
              <a:t>대응</a:t>
            </a:r>
            <a:r>
              <a:rPr dirty="0"/>
              <a:t> 4대 Flash </a:t>
            </a:r>
            <a:r>
              <a:rPr dirty="0" err="1"/>
              <a:t>모델</a:t>
            </a:r>
            <a:r>
              <a:rPr dirty="0"/>
              <a:t> </a:t>
            </a:r>
            <a:r>
              <a:rPr dirty="0" err="1"/>
              <a:t>폴백</a:t>
            </a:r>
            <a:r>
              <a:rPr dirty="0"/>
              <a:t> </a:t>
            </a:r>
            <a:r>
              <a:rPr dirty="0" err="1"/>
              <a:t>구축</a:t>
            </a:r>
            <a:endParaRPr dirty="0"/>
          </a:p>
        </p:txBody>
      </p:sp>
      <p:sp>
        <p:nvSpPr>
          <p:cNvPr id="8" name="Rounded Rectangle 7"/>
          <p:cNvSpPr/>
          <p:nvPr/>
        </p:nvSpPr>
        <p:spPr>
          <a:xfrm>
            <a:off x="6227064" y="1600200"/>
            <a:ext cx="5230368" cy="3108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83096" y="1819656"/>
            <a:ext cx="4718304" cy="2670048"/>
          </a:xfrm>
          <a:prstGeom prst="rect">
            <a:avLst/>
          </a:prstGeom>
          <a:noFill/>
        </p:spPr>
        <p:txBody>
          <a:bodyPr wrap="square" lIns="0" tIns="0" rIns="0" bIns="0">
            <a:spAutoFit/>
          </a:bodyPr>
          <a:lstStyle/>
          <a:p>
            <a:pPr>
              <a:spcAft>
                <a:spcPts val="1000"/>
              </a:spcAft>
              <a:defRPr sz="1500" b="1">
                <a:solidFill>
                  <a:srgbClr val="0F172A"/>
                </a:solidFill>
                <a:latin typeface="Pretendard"/>
              </a:defRPr>
            </a:pPr>
            <a:r>
              <a:rPr dirty="0"/>
              <a:t>🚨 3대 </a:t>
            </a:r>
            <a:r>
              <a:rPr dirty="0" err="1"/>
              <a:t>모델</a:t>
            </a:r>
            <a:r>
              <a:rPr dirty="0"/>
              <a:t> </a:t>
            </a:r>
            <a:r>
              <a:rPr dirty="0" err="1"/>
              <a:t>장애</a:t>
            </a:r>
            <a:r>
              <a:rPr dirty="0"/>
              <a:t> &amp; </a:t>
            </a:r>
            <a:r>
              <a:rPr dirty="0" err="1"/>
              <a:t>해결</a:t>
            </a:r>
            <a:r>
              <a:rPr dirty="0"/>
              <a:t> </a:t>
            </a:r>
            <a:r>
              <a:rPr dirty="0" err="1"/>
              <a:t>조치</a:t>
            </a:r>
            <a:endParaRPr dirty="0"/>
          </a:p>
          <a:p>
            <a:pPr>
              <a:spcAft>
                <a:spcPts val="600"/>
              </a:spcAft>
              <a:defRPr sz="1200">
                <a:solidFill>
                  <a:srgbClr val="334155"/>
                </a:solidFill>
                <a:latin typeface="Pretendard"/>
              </a:defRPr>
            </a:pPr>
            <a:r>
              <a:rPr dirty="0"/>
              <a:t>•  Issue 1. `503 UNAVAILABLE` (</a:t>
            </a:r>
            <a:r>
              <a:rPr dirty="0" err="1"/>
              <a:t>일시</a:t>
            </a:r>
            <a:r>
              <a:rPr dirty="0"/>
              <a:t> </a:t>
            </a:r>
            <a:r>
              <a:rPr dirty="0" err="1"/>
              <a:t>과부하</a:t>
            </a:r>
            <a:r>
              <a:rPr dirty="0"/>
              <a:t>)</a:t>
            </a:r>
            <a:br>
              <a:rPr dirty="0"/>
            </a:br>
            <a:r>
              <a:rPr dirty="0"/>
              <a:t>  ➔ 4대 Flash </a:t>
            </a:r>
            <a:r>
              <a:rPr dirty="0" err="1"/>
              <a:t>모델</a:t>
            </a:r>
            <a:r>
              <a:rPr dirty="0"/>
              <a:t> </a:t>
            </a:r>
            <a:r>
              <a:rPr dirty="0" err="1"/>
              <a:t>간</a:t>
            </a:r>
            <a:r>
              <a:rPr dirty="0"/>
              <a:t> `0.5초 </a:t>
            </a:r>
            <a:r>
              <a:rPr dirty="0" err="1"/>
              <a:t>무중단</a:t>
            </a:r>
            <a:r>
              <a:rPr dirty="0"/>
              <a:t> </a:t>
            </a:r>
            <a:r>
              <a:rPr dirty="0" err="1"/>
              <a:t>자동</a:t>
            </a:r>
            <a:r>
              <a:rPr dirty="0"/>
              <a:t> </a:t>
            </a:r>
            <a:r>
              <a:rPr dirty="0" err="1"/>
              <a:t>폴백</a:t>
            </a:r>
            <a:r>
              <a:rPr dirty="0"/>
              <a:t>` </a:t>
            </a:r>
            <a:r>
              <a:rPr dirty="0" err="1"/>
              <a:t>구축</a:t>
            </a:r>
            <a:endParaRPr dirty="0"/>
          </a:p>
          <a:p>
            <a:pPr>
              <a:spcAft>
                <a:spcPts val="600"/>
              </a:spcAft>
              <a:defRPr sz="1200">
                <a:solidFill>
                  <a:srgbClr val="334155"/>
                </a:solidFill>
                <a:latin typeface="Pretendard"/>
              </a:defRPr>
            </a:pPr>
            <a:r>
              <a:rPr dirty="0"/>
              <a:t>•  Issue 2. `429 RESOURCE_EXHAUSTED` (</a:t>
            </a:r>
            <a:r>
              <a:rPr dirty="0" err="1"/>
              <a:t>속도</a:t>
            </a:r>
            <a:r>
              <a:rPr dirty="0"/>
              <a:t> </a:t>
            </a:r>
            <a:r>
              <a:rPr dirty="0" err="1"/>
              <a:t>제한</a:t>
            </a:r>
            <a:r>
              <a:rPr dirty="0"/>
              <a:t>)</a:t>
            </a:r>
            <a:br>
              <a:rPr dirty="0"/>
            </a:br>
            <a:r>
              <a:rPr dirty="0"/>
              <a:t>  ➔ 1순위 </a:t>
            </a:r>
            <a:r>
              <a:rPr dirty="0" err="1"/>
              <a:t>모델을</a:t>
            </a:r>
            <a:r>
              <a:rPr dirty="0"/>
              <a:t> </a:t>
            </a:r>
            <a:r>
              <a:rPr dirty="0" err="1"/>
              <a:t>넉넉한</a:t>
            </a:r>
            <a:r>
              <a:rPr dirty="0"/>
              <a:t> `gemini-3.5-flash-lite`로 </a:t>
            </a:r>
            <a:r>
              <a:rPr dirty="0" err="1"/>
              <a:t>재구성</a:t>
            </a:r>
            <a:endParaRPr dirty="0"/>
          </a:p>
          <a:p>
            <a:pPr>
              <a:spcAft>
                <a:spcPts val="600"/>
              </a:spcAft>
              <a:defRPr sz="1200">
                <a:solidFill>
                  <a:srgbClr val="334155"/>
                </a:solidFill>
                <a:latin typeface="Pretendard"/>
              </a:defRPr>
            </a:pPr>
            <a:r>
              <a:rPr dirty="0"/>
              <a:t>•  Issue 3. `404 NOT_FOUND` (</a:t>
            </a:r>
            <a:r>
              <a:rPr dirty="0" err="1"/>
              <a:t>구버전</a:t>
            </a:r>
            <a:r>
              <a:rPr dirty="0"/>
              <a:t> 2.5 </a:t>
            </a:r>
            <a:r>
              <a:rPr dirty="0" err="1"/>
              <a:t>폐기</a:t>
            </a:r>
            <a:r>
              <a:rPr dirty="0"/>
              <a:t> </a:t>
            </a:r>
            <a:r>
              <a:rPr dirty="0" err="1"/>
              <a:t>대응</a:t>
            </a:r>
            <a:r>
              <a:rPr dirty="0"/>
              <a:t>)</a:t>
            </a:r>
            <a:br>
              <a:rPr dirty="0"/>
            </a:br>
            <a:r>
              <a:rPr dirty="0"/>
              <a:t>  ➔ </a:t>
            </a:r>
            <a:r>
              <a:rPr dirty="0" err="1"/>
              <a:t>폐기된</a:t>
            </a:r>
            <a:r>
              <a:rPr dirty="0"/>
              <a:t> </a:t>
            </a:r>
            <a:r>
              <a:rPr dirty="0" err="1"/>
              <a:t>구모델</a:t>
            </a:r>
            <a:r>
              <a:rPr dirty="0"/>
              <a:t> </a:t>
            </a:r>
            <a:r>
              <a:rPr dirty="0" err="1"/>
              <a:t>완전</a:t>
            </a:r>
            <a:r>
              <a:rPr dirty="0"/>
              <a:t> </a:t>
            </a:r>
            <a:r>
              <a:rPr dirty="0" err="1"/>
              <a:t>제거</a:t>
            </a:r>
            <a:r>
              <a:rPr dirty="0"/>
              <a:t> </a:t>
            </a:r>
            <a:r>
              <a:rPr dirty="0" err="1"/>
              <a:t>및</a:t>
            </a:r>
            <a:r>
              <a:rPr dirty="0"/>
              <a:t> 3.5/3.6/3.7 </a:t>
            </a:r>
            <a:r>
              <a:rPr dirty="0" err="1"/>
              <a:t>최신화</a:t>
            </a:r>
            <a:endParaRPr dirty="0"/>
          </a:p>
        </p:txBody>
      </p:sp>
      <p:sp>
        <p:nvSpPr>
          <p:cNvPr id="10" name="Rounded Rectangle 9"/>
          <p:cNvSpPr/>
          <p:nvPr/>
        </p:nvSpPr>
        <p:spPr>
          <a:xfrm>
            <a:off x="731520" y="4892040"/>
            <a:ext cx="10725912" cy="1325880"/>
          </a:xfrm>
          <a:prstGeom prst="roundRect">
            <a:avLst/>
          </a:prstGeom>
          <a:solidFill>
            <a:srgbClr val="F1F5F9"/>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5056632"/>
            <a:ext cx="10268712" cy="400110"/>
          </a:xfrm>
          <a:prstGeom prst="rect">
            <a:avLst/>
          </a:prstGeom>
          <a:noFill/>
        </p:spPr>
        <p:txBody>
          <a:bodyPr wrap="square" lIns="0" tIns="0" rIns="0" bIns="0">
            <a:spAutoFit/>
          </a:bodyPr>
          <a:lstStyle/>
          <a:p>
            <a:pPr>
              <a:spcAft>
                <a:spcPts val="300"/>
              </a:spcAft>
              <a:defRPr sz="1250" b="1">
                <a:solidFill>
                  <a:srgbClr val="0066CC"/>
                </a:solidFill>
                <a:latin typeface="Pretendard"/>
              </a:defRPr>
            </a:pPr>
            <a:r>
              <a:rPr dirty="0"/>
              <a:t>💡 </a:t>
            </a:r>
            <a:r>
              <a:rPr dirty="0" err="1"/>
              <a:t>고가용성</a:t>
            </a:r>
            <a:r>
              <a:rPr dirty="0"/>
              <a:t> </a:t>
            </a:r>
            <a:r>
              <a:rPr dirty="0" err="1"/>
              <a:t>복원력</a:t>
            </a:r>
            <a:r>
              <a:rPr dirty="0"/>
              <a:t> (Fault-Tolerant Resilience)</a:t>
            </a:r>
          </a:p>
          <a:p>
            <a:pPr>
              <a:defRPr sz="1100">
                <a:solidFill>
                  <a:srgbClr val="0F172A"/>
                </a:solidFill>
                <a:latin typeface="Pretendard"/>
              </a:defRPr>
            </a:pPr>
            <a:r>
              <a:rPr dirty="0" err="1"/>
              <a:t>특정</a:t>
            </a:r>
            <a:r>
              <a:rPr dirty="0"/>
              <a:t> </a:t>
            </a:r>
            <a:r>
              <a:rPr dirty="0" err="1"/>
              <a:t>모델</a:t>
            </a:r>
            <a:r>
              <a:rPr dirty="0"/>
              <a:t> </a:t>
            </a:r>
            <a:r>
              <a:rPr dirty="0" err="1"/>
              <a:t>장애</a:t>
            </a:r>
            <a:r>
              <a:rPr dirty="0"/>
              <a:t> </a:t>
            </a:r>
            <a:r>
              <a:rPr dirty="0" err="1"/>
              <a:t>시에도</a:t>
            </a:r>
            <a:r>
              <a:rPr dirty="0"/>
              <a:t> `[3.5-flash-lite ➔ 3.6-flash ➔ 3.7-flash ➔ 3.5-flash]` </a:t>
            </a:r>
            <a:r>
              <a:rPr dirty="0" err="1"/>
              <a:t>캐스케이딩</a:t>
            </a:r>
            <a:r>
              <a:rPr dirty="0"/>
              <a:t> </a:t>
            </a:r>
            <a:r>
              <a:rPr dirty="0" err="1"/>
              <a:t>폴백으로</a:t>
            </a:r>
            <a:r>
              <a:rPr dirty="0"/>
              <a:t> </a:t>
            </a:r>
            <a:r>
              <a:rPr lang="ko-KR" altLang="en-US" dirty="0"/>
              <a:t>높은</a:t>
            </a:r>
            <a:r>
              <a:rPr dirty="0"/>
              <a:t> </a:t>
            </a:r>
            <a:r>
              <a:rPr dirty="0" err="1"/>
              <a:t>가용성을</a:t>
            </a:r>
            <a:r>
              <a:rPr dirty="0"/>
              <a:t> </a:t>
            </a:r>
            <a:r>
              <a:rPr dirty="0" err="1"/>
              <a:t>보장합니다</a:t>
            </a:r>
            <a:r>
              <a:rPr dirty="0"/>
              <a:t>.</a:t>
            </a:r>
          </a:p>
        </p:txBody>
      </p:sp>
      <p:pic>
        <p:nvPicPr>
          <p:cNvPr id="12" name="그림 11">
            <a:extLst>
              <a:ext uri="{FF2B5EF4-FFF2-40B4-BE49-F238E27FC236}">
                <a16:creationId xmlns:a16="http://schemas.microsoft.com/office/drawing/2014/main" id="{B1E4CD7B-61CA-A6D1-5253-8566DAB4AE5C}"/>
              </a:ext>
            </a:extLst>
          </p:cNvPr>
          <p:cNvPicPr>
            <a:picLocks noChangeAspect="1"/>
          </p:cNvPicPr>
          <p:nvPr/>
        </p:nvPicPr>
        <p:blipFill>
          <a:blip r:embed="rId2"/>
          <a:stretch>
            <a:fillRect/>
          </a:stretch>
        </p:blipFill>
        <p:spPr>
          <a:xfrm>
            <a:off x="725425" y="3302024"/>
            <a:ext cx="5239512" cy="1407136"/>
          </a:xfrm>
          <a:prstGeom prst="rect">
            <a:avLst/>
          </a:prstGeom>
        </p:spPr>
      </p:pic>
      <p:pic>
        <p:nvPicPr>
          <p:cNvPr id="13" name="그림 12">
            <a:extLst>
              <a:ext uri="{FF2B5EF4-FFF2-40B4-BE49-F238E27FC236}">
                <a16:creationId xmlns:a16="http://schemas.microsoft.com/office/drawing/2014/main" id="{7CBE3753-C8EA-3E67-7329-735F3A857075}"/>
              </a:ext>
            </a:extLst>
          </p:cNvPr>
          <p:cNvPicPr>
            <a:picLocks noChangeAspect="1"/>
          </p:cNvPicPr>
          <p:nvPr/>
        </p:nvPicPr>
        <p:blipFill>
          <a:blip r:embed="rId3"/>
          <a:stretch>
            <a:fillRect/>
          </a:stretch>
        </p:blipFill>
        <p:spPr>
          <a:xfrm>
            <a:off x="734568" y="1369870"/>
            <a:ext cx="4095127" cy="182438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86026-1D29-E68C-5A9A-517D1FEEB51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F6F46E-DE84-E7BA-0158-4FA558F58590}"/>
              </a:ext>
            </a:extLst>
          </p:cNvPr>
          <p:cNvSpPr/>
          <p:nvPr/>
        </p:nvSpPr>
        <p:spPr>
          <a:xfrm>
            <a:off x="305" y="277091"/>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9CB13B5-97B3-7064-941B-FC7B8189D24A}"/>
              </a:ext>
            </a:extLst>
          </p:cNvPr>
          <p:cNvSpPr txBox="1"/>
          <p:nvPr/>
        </p:nvSpPr>
        <p:spPr>
          <a:xfrm>
            <a:off x="731520" y="411480"/>
            <a:ext cx="10725912" cy="274320"/>
          </a:xfrm>
          <a:prstGeom prst="rect">
            <a:avLst/>
          </a:prstGeom>
          <a:noFill/>
        </p:spPr>
        <p:txBody>
          <a:bodyPr wrap="square" lIns="0" tIns="0" rIns="0" bIns="0">
            <a:spAutoFit/>
          </a:bodyPr>
          <a:lstStyle/>
          <a:p>
            <a:pPr>
              <a:defRPr sz="1050" b="1">
                <a:solidFill>
                  <a:srgbClr val="0066CC"/>
                </a:solidFill>
                <a:latin typeface="Pretendard"/>
              </a:defRPr>
            </a:pPr>
            <a:r>
              <a:t>TROUBLESHOOTING 2</a:t>
            </a:r>
          </a:p>
        </p:txBody>
      </p:sp>
      <p:sp>
        <p:nvSpPr>
          <p:cNvPr id="4" name="TextBox 3">
            <a:extLst>
              <a:ext uri="{FF2B5EF4-FFF2-40B4-BE49-F238E27FC236}">
                <a16:creationId xmlns:a16="http://schemas.microsoft.com/office/drawing/2014/main" id="{70467FAA-F827-1EDE-C204-A8F929C6A83B}"/>
              </a:ext>
            </a:extLst>
          </p:cNvPr>
          <p:cNvSpPr txBox="1"/>
          <p:nvPr/>
        </p:nvSpPr>
        <p:spPr>
          <a:xfrm>
            <a:off x="731520" y="685800"/>
            <a:ext cx="10725912" cy="338554"/>
          </a:xfrm>
          <a:prstGeom prst="rect">
            <a:avLst/>
          </a:prstGeom>
          <a:noFill/>
        </p:spPr>
        <p:txBody>
          <a:bodyPr wrap="square" lIns="0" tIns="0" rIns="0" bIns="0">
            <a:spAutoFit/>
          </a:bodyPr>
          <a:lstStyle/>
          <a:p>
            <a:pPr>
              <a:defRPr sz="2200" b="1">
                <a:solidFill>
                  <a:srgbClr val="1E293B"/>
                </a:solidFill>
                <a:latin typeface="Pretendard"/>
              </a:defRPr>
            </a:pPr>
            <a:r>
              <a:t>강사 피드백 5대 과제 해결 성과 &amp; 실측 벤치마크</a:t>
            </a:r>
          </a:p>
        </p:txBody>
      </p:sp>
      <p:sp>
        <p:nvSpPr>
          <p:cNvPr id="6" name="Rounded Rectangle 5">
            <a:extLst>
              <a:ext uri="{FF2B5EF4-FFF2-40B4-BE49-F238E27FC236}">
                <a16:creationId xmlns:a16="http://schemas.microsoft.com/office/drawing/2014/main" id="{F97DDF87-3067-592B-1B97-3D53BBF20A42}"/>
              </a:ext>
            </a:extLst>
          </p:cNvPr>
          <p:cNvSpPr/>
          <p:nvPr/>
        </p:nvSpPr>
        <p:spPr>
          <a:xfrm>
            <a:off x="731520" y="1600200"/>
            <a:ext cx="5230368" cy="3108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32965E1C-694A-0EE1-B16A-60DDF7FD3AF6}"/>
              </a:ext>
            </a:extLst>
          </p:cNvPr>
          <p:cNvSpPr txBox="1"/>
          <p:nvPr/>
        </p:nvSpPr>
        <p:spPr>
          <a:xfrm>
            <a:off x="987552" y="1819656"/>
            <a:ext cx="4718304" cy="728405"/>
          </a:xfrm>
          <a:prstGeom prst="rect">
            <a:avLst/>
          </a:prstGeom>
          <a:noFill/>
        </p:spPr>
        <p:txBody>
          <a:bodyPr wrap="square" lIns="0" tIns="0" rIns="0" bIns="0">
            <a:spAutoFit/>
          </a:bodyPr>
          <a:lstStyle/>
          <a:p>
            <a:pPr>
              <a:spcAft>
                <a:spcPts val="1000"/>
              </a:spcAft>
              <a:defRPr sz="1300" b="1">
                <a:solidFill>
                  <a:srgbClr val="10B981"/>
                </a:solidFill>
                <a:latin typeface="Pretendard"/>
              </a:defRPr>
            </a:pPr>
            <a:r>
              <a:t>✅ 1. 검색 속도 병목 극복 (FTS5 1.24ms 달성)</a:t>
            </a:r>
            <a:endParaRPr lang="ko-KR" altLang="en-US" dirty="0"/>
          </a:p>
          <a:p>
            <a:pPr>
              <a:defRPr sz="1050" b="0">
                <a:solidFill>
                  <a:srgbClr val="0F172A"/>
                </a:solidFill>
                <a:latin typeface="Pretendard"/>
              </a:defRPr>
            </a:pPr>
            <a:r>
              <a:t>• AS-IS: 7만건 CSV를 Pandas로 순차 탐색하여 수 초 이상 지연</a:t>
            </a:r>
          </a:p>
          <a:p>
            <a:pPr>
              <a:defRPr sz="1050" b="0">
                <a:solidFill>
                  <a:srgbClr val="0F172A"/>
                </a:solidFill>
                <a:latin typeface="Pretendard"/>
              </a:defRPr>
            </a:pPr>
            <a:r>
              <a:t>• TO-BE: SQLite FTS5 전문 검색 변환으로 1.24ms 초고속 달성</a:t>
            </a:r>
          </a:p>
          <a:p>
            <a:pPr>
              <a:defRPr sz="1050" b="0">
                <a:solidFill>
                  <a:srgbClr val="0F172A"/>
                </a:solidFill>
                <a:latin typeface="Pretendard"/>
              </a:defRPr>
            </a:pPr>
            <a:r>
              <a:t>• 성과: 검색 속도 40배 이상 단축, 앱 구동 시 RAM 0MB 점유</a:t>
            </a:r>
          </a:p>
        </p:txBody>
      </p:sp>
      <p:sp>
        <p:nvSpPr>
          <p:cNvPr id="8" name="Rounded Rectangle 7">
            <a:extLst>
              <a:ext uri="{FF2B5EF4-FFF2-40B4-BE49-F238E27FC236}">
                <a16:creationId xmlns:a16="http://schemas.microsoft.com/office/drawing/2014/main" id="{4B54E429-5B9F-A0F7-3ADC-5912DBA4D8BE}"/>
              </a:ext>
            </a:extLst>
          </p:cNvPr>
          <p:cNvSpPr/>
          <p:nvPr/>
        </p:nvSpPr>
        <p:spPr>
          <a:xfrm>
            <a:off x="6227064" y="1600200"/>
            <a:ext cx="5230368" cy="3108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a:extLst>
              <a:ext uri="{FF2B5EF4-FFF2-40B4-BE49-F238E27FC236}">
                <a16:creationId xmlns:a16="http://schemas.microsoft.com/office/drawing/2014/main" id="{12F45FF4-825C-114B-B689-4CFAB1F46934}"/>
              </a:ext>
            </a:extLst>
          </p:cNvPr>
          <p:cNvSpPr/>
          <p:nvPr/>
        </p:nvSpPr>
        <p:spPr>
          <a:xfrm>
            <a:off x="731520" y="4892040"/>
            <a:ext cx="10725912" cy="1325880"/>
          </a:xfrm>
          <a:prstGeom prst="roundRect">
            <a:avLst/>
          </a:prstGeom>
          <a:solidFill>
            <a:srgbClr val="F1F5F9"/>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9405874E-9B94-C2DE-5FCB-5B6A8514F877}"/>
              </a:ext>
            </a:extLst>
          </p:cNvPr>
          <p:cNvSpPr txBox="1"/>
          <p:nvPr/>
        </p:nvSpPr>
        <p:spPr>
          <a:xfrm>
            <a:off x="987552" y="2724719"/>
            <a:ext cx="4718304" cy="728405"/>
          </a:xfrm>
          <a:prstGeom prst="rect">
            <a:avLst/>
          </a:prstGeom>
          <a:noFill/>
        </p:spPr>
        <p:txBody>
          <a:bodyPr wrap="square" lIns="0" tIns="0" rIns="0" bIns="0">
            <a:spAutoFit/>
          </a:bodyPr>
          <a:lstStyle/>
          <a:p>
            <a:pPr>
              <a:spcAft>
                <a:spcPts val="1000"/>
              </a:spcAft>
              <a:defRPr sz="1300" b="1">
                <a:solidFill>
                  <a:srgbClr val="2997FF"/>
                </a:solidFill>
                <a:latin typeface="Pretendard"/>
              </a:defRPr>
            </a:pPr>
            <a:r>
              <a:t>✅ 2. 복합 질문 처리 &amp; ReAct 아키텍처 완성</a:t>
            </a:r>
            <a:endParaRPr lang="ko-KR" altLang="en-US" dirty="0"/>
          </a:p>
          <a:p>
            <a:pPr>
              <a:defRPr sz="1050" b="0">
                <a:solidFill>
                  <a:srgbClr val="0F172A"/>
                </a:solidFill>
                <a:latin typeface="Pretendard"/>
              </a:defRPr>
            </a:pPr>
            <a:r>
              <a:t>• AS-IS: 식단과 운동을 동시에 말하면 단일 태그만 생성(유실)</a:t>
            </a:r>
          </a:p>
          <a:p>
            <a:pPr>
              <a:defRPr sz="1050" b="0">
                <a:solidFill>
                  <a:srgbClr val="0F172A"/>
                </a:solidFill>
                <a:latin typeface="Pretendard"/>
              </a:defRPr>
            </a:pPr>
            <a:r>
              <a:t>• TO-BE: ReAct 다중 도구 호출 + re.findall 다중 파서 도입</a:t>
            </a:r>
          </a:p>
          <a:p>
            <a:pPr>
              <a:defRPr sz="1050" b="0">
                <a:solidFill>
                  <a:srgbClr val="0F172A"/>
                </a:solidFill>
                <a:latin typeface="Pretendard"/>
              </a:defRPr>
            </a:pPr>
            <a:r>
              <a:t>• 성과: 식단/운동 100% 동시 분석 &amp; 2열 멀티 카드 동시 저장</a:t>
            </a:r>
          </a:p>
        </p:txBody>
      </p:sp>
      <p:sp>
        <p:nvSpPr>
          <p:cNvPr id="15" name="TextBox 14">
            <a:extLst>
              <a:ext uri="{FF2B5EF4-FFF2-40B4-BE49-F238E27FC236}">
                <a16:creationId xmlns:a16="http://schemas.microsoft.com/office/drawing/2014/main" id="{C42F361B-869F-CFB4-28FC-DE3E84647C16}"/>
              </a:ext>
            </a:extLst>
          </p:cNvPr>
          <p:cNvSpPr txBox="1"/>
          <p:nvPr/>
        </p:nvSpPr>
        <p:spPr>
          <a:xfrm>
            <a:off x="6483096" y="1819655"/>
            <a:ext cx="4718304" cy="461665"/>
          </a:xfrm>
          <a:prstGeom prst="rect">
            <a:avLst/>
          </a:prstGeom>
          <a:noFill/>
        </p:spPr>
        <p:txBody>
          <a:bodyPr wrap="square" lIns="0" tIns="0" rIns="0" bIns="0">
            <a:spAutoFit/>
          </a:bodyPr>
          <a:lstStyle/>
          <a:p>
            <a:pPr>
              <a:spcAft>
                <a:spcPts val="1000"/>
              </a:spcAft>
              <a:defRPr sz="1300" b="1">
                <a:solidFill>
                  <a:srgbClr val="8B5CF6"/>
                </a:solidFill>
                <a:latin typeface="Pretendard"/>
              </a:defRPr>
            </a:pPr>
            <a:r>
              <a:t>✅ 3. 정형 데이터 vs 비정형 문서 명확한 이원화</a:t>
            </a:r>
          </a:p>
          <a:p>
            <a:pPr>
              <a:defRPr sz="1050" b="0">
                <a:solidFill>
                  <a:srgbClr val="0F172A"/>
                </a:solidFill>
                <a:latin typeface="Pretendard"/>
              </a:defRPr>
            </a:pPr>
            <a:r>
              <a:t>• 정형 식약처 DB: SQLite FTS5 역색인 검색 (오탐/비용 제로)</a:t>
            </a:r>
          </a:p>
          <a:p>
            <a:pPr>
              <a:defRPr sz="1050" b="0">
                <a:solidFill>
                  <a:srgbClr val="0F172A"/>
                </a:solidFill>
                <a:latin typeface="Pretendard"/>
              </a:defRPr>
            </a:pPr>
            <a:r>
              <a:t>• 비정형 영양 백과: 14대 임상 가이드 + BM25+Dense 하이브리드 RAG</a:t>
            </a:r>
          </a:p>
          <a:p>
            <a:pPr>
              <a:defRPr sz="1050" b="0">
                <a:solidFill>
                  <a:srgbClr val="0F172A"/>
                </a:solidFill>
                <a:latin typeface="Pretendard"/>
              </a:defRPr>
            </a:pPr>
            <a:r>
              <a:t>• 성과: 무분별한 7만건 벡터화 방지 및 최적의 검색 품질 보장</a:t>
            </a:r>
          </a:p>
        </p:txBody>
      </p:sp>
      <p:sp>
        <p:nvSpPr>
          <p:cNvPr id="16" name="TextBox 15">
            <a:extLst>
              <a:ext uri="{FF2B5EF4-FFF2-40B4-BE49-F238E27FC236}">
                <a16:creationId xmlns:a16="http://schemas.microsoft.com/office/drawing/2014/main" id="{760EEA94-1CD8-C956-3DB6-B7B5F3D68883}"/>
              </a:ext>
            </a:extLst>
          </p:cNvPr>
          <p:cNvSpPr txBox="1"/>
          <p:nvPr/>
        </p:nvSpPr>
        <p:spPr>
          <a:xfrm>
            <a:off x="6483096" y="2642443"/>
            <a:ext cx="4718304" cy="230832"/>
          </a:xfrm>
          <a:prstGeom prst="rect">
            <a:avLst/>
          </a:prstGeom>
          <a:noFill/>
        </p:spPr>
        <p:txBody>
          <a:bodyPr wrap="square" lIns="0" tIns="0" rIns="0" bIns="0">
            <a:spAutoFit/>
          </a:bodyPr>
          <a:lstStyle/>
          <a:p>
            <a:pPr>
              <a:spcAft>
                <a:spcPts val="1000"/>
              </a:spcAft>
              <a:defRPr sz="1300" b="1">
                <a:solidFill>
                  <a:srgbClr val="F59E0B"/>
                </a:solidFill>
                <a:latin typeface="Pretendard"/>
              </a:defRPr>
            </a:pPr>
            <a:r>
              <a:t>✅ 4. 공식 출처 표기 &amp; 스마트 폴백 (UX 혁신)</a:t>
            </a:r>
            <a:endParaRPr lang="ko-KR" altLang="en-US" dirty="0"/>
          </a:p>
          <a:p>
            <a:pPr>
              <a:defRPr sz="1050" b="0">
                <a:solidFill>
                  <a:srgbClr val="0F172A"/>
                </a:solidFill>
                <a:latin typeface="Pretendard"/>
              </a:defRPr>
            </a:pPr>
            <a:r>
              <a:t>• 식약처 2024 / ACSM METs / 보건복지부 KDRIs 공식 출처 뱃지</a:t>
            </a:r>
          </a:p>
          <a:p>
            <a:pPr>
              <a:defRPr sz="1050" b="0">
                <a:solidFill>
                  <a:srgbClr val="0F172A"/>
                </a:solidFill>
                <a:latin typeface="Pretendard"/>
              </a:defRPr>
            </a:pPr>
            <a:r>
              <a:t>• 미등록 메뉴 입력 시 10대 카테고리 표준 조리법 기반 추정치 제시</a:t>
            </a:r>
          </a:p>
          <a:p>
            <a:pPr>
              <a:defRPr sz="1050" b="0">
                <a:solidFill>
                  <a:srgbClr val="0F172A"/>
                </a:solidFill>
                <a:latin typeface="Pretendard"/>
              </a:defRPr>
            </a:pPr>
            <a:r>
              <a:t>• 성과: 설명 가능성(Explainability) 확보 및 사용자 이탈 방지</a:t>
            </a:r>
          </a:p>
        </p:txBody>
      </p:sp>
      <p:sp>
        <p:nvSpPr>
          <p:cNvPr id="18" name="TextBox 17">
            <a:extLst>
              <a:ext uri="{FF2B5EF4-FFF2-40B4-BE49-F238E27FC236}">
                <a16:creationId xmlns:a16="http://schemas.microsoft.com/office/drawing/2014/main" id="{67BBA1FE-42CB-2E75-53B5-127582DAACC6}"/>
              </a:ext>
            </a:extLst>
          </p:cNvPr>
          <p:cNvSpPr txBox="1"/>
          <p:nvPr/>
        </p:nvSpPr>
        <p:spPr>
          <a:xfrm>
            <a:off x="987552" y="3664767"/>
            <a:ext cx="4718304" cy="461665"/>
          </a:xfrm>
          <a:prstGeom prst="rect">
            <a:avLst/>
          </a:prstGeom>
          <a:noFill/>
        </p:spPr>
        <p:txBody>
          <a:bodyPr wrap="square" lIns="0" tIns="0" rIns="0" bIns="0">
            <a:spAutoFit/>
          </a:bodyPr>
          <a:lstStyle/>
          <a:p>
            <a:pPr>
              <a:spcAft>
                <a:spcPts val="1000"/>
              </a:spcAft>
              <a:defRPr sz="1500" b="1">
                <a:solidFill>
                  <a:srgbClr val="0F172A"/>
                </a:solidFill>
                <a:latin typeface="Pretendard"/>
              </a:defRPr>
            </a:pPr>
            <a:r>
              <a:rPr lang="en-US" altLang="ko-KR" dirty="0"/>
              <a:t>•</a:t>
            </a:r>
            <a:r>
              <a:rPr lang="ko-KR" altLang="en-US" dirty="0"/>
              <a:t> 운동 부분에서 키</a:t>
            </a:r>
            <a:r>
              <a:rPr lang="en-US" altLang="ko-KR" dirty="0"/>
              <a:t>/</a:t>
            </a:r>
            <a:r>
              <a:rPr lang="ko-KR" altLang="en-US" dirty="0"/>
              <a:t> 몸무게 등 기본정보로만 측정이 </a:t>
            </a:r>
            <a:r>
              <a:rPr lang="ko-KR" altLang="en-US" dirty="0" err="1"/>
              <a:t>되기때문에</a:t>
            </a:r>
            <a:r>
              <a:rPr lang="ko-KR" altLang="en-US" dirty="0"/>
              <a:t> 근력 등 디테일한 내용이 미포함 </a:t>
            </a:r>
          </a:p>
        </p:txBody>
      </p:sp>
      <p:sp>
        <p:nvSpPr>
          <p:cNvPr id="19" name="TextBox 18">
            <a:extLst>
              <a:ext uri="{FF2B5EF4-FFF2-40B4-BE49-F238E27FC236}">
                <a16:creationId xmlns:a16="http://schemas.microsoft.com/office/drawing/2014/main" id="{E72AFD15-BA06-B8EE-1002-51A0EB6D96D8}"/>
              </a:ext>
            </a:extLst>
          </p:cNvPr>
          <p:cNvSpPr txBox="1"/>
          <p:nvPr/>
        </p:nvSpPr>
        <p:spPr>
          <a:xfrm>
            <a:off x="960120" y="5056632"/>
            <a:ext cx="10268712" cy="192360"/>
          </a:xfrm>
          <a:prstGeom prst="rect">
            <a:avLst/>
          </a:prstGeom>
          <a:noFill/>
        </p:spPr>
        <p:txBody>
          <a:bodyPr wrap="square" lIns="0" tIns="0" rIns="0" bIns="0">
            <a:spAutoFit/>
          </a:bodyPr>
          <a:lstStyle/>
          <a:p>
            <a:pPr>
              <a:spcAft>
                <a:spcPts val="300"/>
              </a:spcAft>
              <a:defRPr sz="1250" b="1">
                <a:solidFill>
                  <a:srgbClr val="0066CC"/>
                </a:solidFill>
                <a:latin typeface="Pretendard"/>
              </a:defRPr>
            </a:pPr>
            <a:r>
              <a:rPr dirty="0"/>
              <a:t>💡</a:t>
            </a:r>
            <a:r>
              <a:rPr lang="ko-KR" altLang="en-US" dirty="0"/>
              <a:t> 질문 </a:t>
            </a:r>
            <a:r>
              <a:rPr lang="en-US" altLang="ko-KR" dirty="0"/>
              <a:t>/</a:t>
            </a:r>
            <a:r>
              <a:rPr lang="ko-KR" altLang="en-US" dirty="0"/>
              <a:t> 답변</a:t>
            </a:r>
            <a:endParaRPr dirty="0"/>
          </a:p>
        </p:txBody>
      </p:sp>
      <p:sp>
        <p:nvSpPr>
          <p:cNvPr id="20" name="TextBox 19">
            <a:extLst>
              <a:ext uri="{FF2B5EF4-FFF2-40B4-BE49-F238E27FC236}">
                <a16:creationId xmlns:a16="http://schemas.microsoft.com/office/drawing/2014/main" id="{95F9FB65-CF14-3538-38DD-925B5FA7384D}"/>
              </a:ext>
            </a:extLst>
          </p:cNvPr>
          <p:cNvSpPr txBox="1"/>
          <p:nvPr/>
        </p:nvSpPr>
        <p:spPr>
          <a:xfrm>
            <a:off x="6483096" y="3429000"/>
            <a:ext cx="4718304" cy="461665"/>
          </a:xfrm>
          <a:prstGeom prst="rect">
            <a:avLst/>
          </a:prstGeom>
          <a:noFill/>
        </p:spPr>
        <p:txBody>
          <a:bodyPr wrap="square" lIns="0" tIns="0" rIns="0" bIns="0">
            <a:spAutoFit/>
          </a:bodyPr>
          <a:lstStyle/>
          <a:p>
            <a:pPr>
              <a:spcAft>
                <a:spcPts val="1000"/>
              </a:spcAft>
              <a:defRPr sz="1300" b="1">
                <a:solidFill>
                  <a:srgbClr val="0066CC"/>
                </a:solidFill>
                <a:latin typeface="Pretendard"/>
              </a:defRPr>
            </a:pPr>
            <a:r>
              <a:t>✅ 5. 8턴 슬라이딩 윈도우 (토큰 40% 절감)</a:t>
            </a:r>
            <a:endParaRPr lang="ko-KR" altLang="en-US" dirty="0"/>
          </a:p>
          <a:p>
            <a:pPr>
              <a:defRPr sz="1050" b="0">
                <a:solidFill>
                  <a:srgbClr val="0F172A"/>
                </a:solidFill>
                <a:latin typeface="Pretendard"/>
              </a:defRPr>
            </a:pPr>
            <a:r>
              <a:t>• 대화 누적 시 최근 8턴(16개 메시지)만 활성 컨텍스트 유지</a:t>
            </a:r>
          </a:p>
          <a:p>
            <a:pPr>
              <a:defRPr sz="1050" b="0">
                <a:solidFill>
                  <a:srgbClr val="0F172A"/>
                </a:solidFill>
                <a:latin typeface="Pretendard"/>
              </a:defRPr>
            </a:pPr>
            <a:r>
              <a:t>• 429 Rate Limit 및 503 과부하 에러 100% 원천 차단</a:t>
            </a:r>
          </a:p>
        </p:txBody>
      </p:sp>
    </p:spTree>
    <p:extLst>
      <p:ext uri="{BB962C8B-B14F-4D97-AF65-F5344CB8AC3E}">
        <p14:creationId xmlns:p14="http://schemas.microsoft.com/office/powerpoint/2010/main" val="885756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A3EEB-8844-9C6E-3B1F-21D569B4FA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27CCE4A-34C8-6793-2732-B49966F660F4}"/>
              </a:ext>
            </a:extLst>
          </p:cNvPr>
          <p:cNvSpPr/>
          <p:nvPr/>
        </p:nvSpPr>
        <p:spPr>
          <a:xfrm>
            <a:off x="305" y="277091"/>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A2FC352-B38D-BFAB-61EF-D2F5111E489C}"/>
              </a:ext>
            </a:extLst>
          </p:cNvPr>
          <p:cNvSpPr txBox="1"/>
          <p:nvPr/>
        </p:nvSpPr>
        <p:spPr>
          <a:xfrm>
            <a:off x="731520" y="411480"/>
            <a:ext cx="10725912" cy="274320"/>
          </a:xfrm>
          <a:prstGeom prst="rect">
            <a:avLst/>
          </a:prstGeom>
          <a:noFill/>
        </p:spPr>
        <p:txBody>
          <a:bodyPr wrap="square" lIns="0" tIns="0" rIns="0" bIns="0">
            <a:spAutoFit/>
          </a:bodyPr>
          <a:lstStyle/>
          <a:p>
            <a:pPr>
              <a:defRPr sz="1050" b="1">
                <a:solidFill>
                  <a:srgbClr val="0066CC"/>
                </a:solidFill>
                <a:latin typeface="Pretendard"/>
              </a:defRPr>
            </a:pPr>
            <a:r>
              <a:t>TROUBLESHOOTING 2</a:t>
            </a:r>
          </a:p>
        </p:txBody>
      </p:sp>
      <p:sp>
        <p:nvSpPr>
          <p:cNvPr id="4" name="TextBox 3">
            <a:extLst>
              <a:ext uri="{FF2B5EF4-FFF2-40B4-BE49-F238E27FC236}">
                <a16:creationId xmlns:a16="http://schemas.microsoft.com/office/drawing/2014/main" id="{749EC2CC-7EDF-685F-5450-F13F2426B186}"/>
              </a:ext>
            </a:extLst>
          </p:cNvPr>
          <p:cNvSpPr txBox="1"/>
          <p:nvPr/>
        </p:nvSpPr>
        <p:spPr>
          <a:xfrm>
            <a:off x="731520" y="685800"/>
            <a:ext cx="10725912" cy="338554"/>
          </a:xfrm>
          <a:prstGeom prst="rect">
            <a:avLst/>
          </a:prstGeom>
          <a:noFill/>
        </p:spPr>
        <p:txBody>
          <a:bodyPr wrap="square" lIns="0" tIns="0" rIns="0" bIns="0">
            <a:spAutoFit/>
          </a:bodyPr>
          <a:lstStyle/>
          <a:p>
            <a:pPr>
              <a:defRPr sz="2200" b="1">
                <a:solidFill>
                  <a:srgbClr val="0F172A"/>
                </a:solidFill>
                <a:latin typeface="Pretendard"/>
              </a:defRPr>
            </a:pPr>
            <a:r>
              <a:rPr lang="ko-KR" altLang="en-US" dirty="0"/>
              <a:t>질문 </a:t>
            </a:r>
            <a:r>
              <a:rPr lang="en-US" altLang="ko-KR" dirty="0"/>
              <a:t>/</a:t>
            </a:r>
            <a:r>
              <a:rPr lang="ko-KR" altLang="en-US" dirty="0"/>
              <a:t> 답변</a:t>
            </a:r>
            <a:endParaRPr dirty="0"/>
          </a:p>
        </p:txBody>
      </p:sp>
      <p:sp>
        <p:nvSpPr>
          <p:cNvPr id="10" name="Rounded Rectangle 9">
            <a:extLst>
              <a:ext uri="{FF2B5EF4-FFF2-40B4-BE49-F238E27FC236}">
                <a16:creationId xmlns:a16="http://schemas.microsoft.com/office/drawing/2014/main" id="{3A97454A-05AC-957A-384D-413D97F13245}"/>
              </a:ext>
            </a:extLst>
          </p:cNvPr>
          <p:cNvSpPr/>
          <p:nvPr/>
        </p:nvSpPr>
        <p:spPr>
          <a:xfrm>
            <a:off x="731520" y="1298674"/>
            <a:ext cx="10725912" cy="5147846"/>
          </a:xfrm>
          <a:prstGeom prst="roundRect">
            <a:avLst/>
          </a:prstGeom>
          <a:solidFill>
            <a:srgbClr val="F1F5F9"/>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33BB00B6-C4D7-62DF-3AF8-419710F9012F}"/>
              </a:ext>
            </a:extLst>
          </p:cNvPr>
          <p:cNvSpPr txBox="1"/>
          <p:nvPr/>
        </p:nvSpPr>
        <p:spPr>
          <a:xfrm>
            <a:off x="960120" y="1872699"/>
            <a:ext cx="10268712" cy="3885679"/>
          </a:xfrm>
          <a:prstGeom prst="rect">
            <a:avLst/>
          </a:prstGeom>
          <a:noFill/>
        </p:spPr>
        <p:txBody>
          <a:bodyPr wrap="square" lIns="0" tIns="0" rIns="0" bIns="0">
            <a:spAutoFit/>
          </a:bodyPr>
          <a:lstStyle/>
          <a:p>
            <a:pPr>
              <a:spcAft>
                <a:spcPts val="300"/>
              </a:spcAft>
              <a:defRPr sz="1150" b="1">
                <a:solidFill>
                  <a:srgbClr val="0066CC"/>
                </a:solidFill>
                <a:latin typeface="Pretendard"/>
              </a:defRPr>
            </a:pPr>
            <a:r>
              <a:t>Q1. 7만 건 식약처 데이터를 왜 Vector DB 대신 SQLite FTS5로 구축했나요?</a:t>
            </a:r>
            <a:endParaRPr lang="en-US" dirty="0"/>
          </a:p>
          <a:p>
            <a:pPr>
              <a:defRPr sz="1000" b="0">
                <a:solidFill>
                  <a:srgbClr val="0F172A"/>
                </a:solidFill>
                <a:latin typeface="Pretendard"/>
              </a:defRPr>
            </a:pPr>
            <a:r>
              <a:t>➔ 식약처 데이터는 정확한 식품명과 수치 규격을 가진 정형 데이터입니다. 7만 건을 임베딩하면 비용 낭비와 오타 오탐이 심각해집니다. 역색인 FTS5를 통해 1.24ms 초고속 정밀 매칭을 구현하고, 비정형 임상 지식만 벡터 RAG로 이원화하는 것이 엔터프라이즈 정석입니다.</a:t>
            </a:r>
          </a:p>
          <a:p>
            <a:pPr>
              <a:defRPr sz="400"/>
            </a:pPr>
          </a:p>
          <a:p>
            <a:pPr>
              <a:defRPr sz="1150" b="1">
                <a:solidFill>
                  <a:srgbClr val="0066CC"/>
                </a:solidFill>
                <a:latin typeface="Pretendard"/>
              </a:defRPr>
            </a:pPr>
            <a:r>
              <a:t>Q2. 식단과 운동을 한 번에 말하는 복합 질문은 어떻게 해결했나요?</a:t>
            </a:r>
          </a:p>
          <a:p>
            <a:pPr>
              <a:defRPr sz="1000" b="0">
                <a:solidFill>
                  <a:srgbClr val="0F172A"/>
                </a:solidFill>
                <a:latin typeface="Pretendard"/>
              </a:defRPr>
            </a:pPr>
            <a:r>
              <a:t>➔ ReAct 프롬프트로 의도를 자동 분해하여 search_food_nutrition과 calculate_exercise_calories를 동시에 호출합니다. re.findall 다중 파서로 MEAL_DATA와 EXERCISE_DATA를 분리 추출하여 화면에 2열 독립 카드와 [원클릭 동시 저장]을 제공합니다.</a:t>
            </a:r>
          </a:p>
          <a:p>
            <a:pPr>
              <a:defRPr sz="400"/>
            </a:pPr>
          </a:p>
          <a:p>
            <a:pPr>
              <a:defRPr sz="1150" b="1">
                <a:solidFill>
                  <a:srgbClr val="0066CC"/>
                </a:solidFill>
                <a:latin typeface="Pretendard"/>
              </a:defRPr>
            </a:pPr>
            <a:r>
              <a:t>Q3. 세션이 길어질 때 무료 API 속도 제한(429/503)은 어떻게 방어하나요?</a:t>
            </a:r>
          </a:p>
          <a:p>
            <a:pPr>
              <a:defRPr sz="1000" b="0">
                <a:solidFill>
                  <a:srgbClr val="0F172A"/>
                </a:solidFill>
                <a:latin typeface="Pretendard"/>
              </a:defRPr>
            </a:pPr>
            <a:r>
              <a:t>➔ 최근 8턴(16개 메시지) 슬라이딩 윈도우 버퍼를 적용하여 이전 대화를 압축하고 토큰을 40% 이상 절약합니다. 또한 4대 Flash 모델 간 캐스케이딩 자동 전환 폴백을 구축하여 무중단 서비스를 보장합니다.</a:t>
            </a:r>
          </a:p>
          <a:p>
            <a:pPr>
              <a:defRPr sz="400"/>
            </a:pPr>
          </a:p>
          <a:p>
            <a:pPr>
              <a:defRPr sz="1150" b="1">
                <a:solidFill>
                  <a:srgbClr val="0066CC"/>
                </a:solidFill>
                <a:latin typeface="Pretendard"/>
              </a:defRPr>
            </a:pPr>
            <a:r>
              <a:t>Q4. 식약처 DB에 등록되지 않은 생소한 음식은 어떻게 처리하나요?</a:t>
            </a:r>
          </a:p>
          <a:p>
            <a:pPr>
              <a:defRPr sz="1000" b="0">
                <a:solidFill>
                  <a:srgbClr val="0F172A"/>
                </a:solidFill>
                <a:latin typeface="Pretendard"/>
              </a:defRPr>
            </a:pPr>
            <a:r>
              <a:t>➔ '정보 없음'으로 대화를 끊지 않고, 10대 조리법 카테고리(국/찌개, 육류볶음, 면류 등) 표준 조리법 기반 스마트 폴백 추정치를 즉시 계산하며, 사용자가 카드를 열어 직접 수치를 보정할 수 있는 Human-in-the-Loop를 지원합니다.</a:t>
            </a:r>
          </a:p>
          <a:p>
            <a:pPr>
              <a:defRPr sz="400"/>
            </a:pPr>
          </a:p>
        </p:txBody>
      </p:sp>
    </p:spTree>
    <p:extLst>
      <p:ext uri="{BB962C8B-B14F-4D97-AF65-F5344CB8AC3E}">
        <p14:creationId xmlns:p14="http://schemas.microsoft.com/office/powerpoint/2010/main" val="1962684889"/>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5912" cy="731520"/>
          </a:xfrm>
          <a:prstGeom prst="rect">
            <a:avLst/>
          </a:prstGeom>
          <a:noFill/>
        </p:spPr>
        <p:txBody>
          <a:bodyPr wrap="none">
            <a:spAutoFit/>
          </a:bodyPr>
          <a:lstStyle/>
          <a:p>
            <a:pPr>
              <a:defRPr sz="1050" b="1">
                <a:solidFill>
                  <a:srgbClr val="64748B"/>
                </a:solidFill>
                <a:latin typeface="Pretendard"/>
              </a:defRPr>
            </a:pPr>
            <a:r>
              <a:t>CONCLUSION &amp; METRICS SUMMARY</a:t>
            </a:r>
          </a:p>
          <a:p>
            <a:pPr>
              <a:defRPr sz="2200" b="1">
                <a:solidFill>
                  <a:srgbClr val="1E293B"/>
                </a:solidFill>
                <a:latin typeface="Pretendard"/>
              </a:defRPr>
            </a:pPr>
            <a:r>
              <a:t>고도화 최종 성과 : AS-IS (중간 발표) vs TO-BE (완성본) 정량 비교</a:t>
            </a:r>
          </a:p>
        </p:txBody>
      </p:sp>
      <p:graphicFrame>
        <p:nvGraphicFramePr>
          <p:cNvPr id="4" name="Table 3"/>
          <p:cNvGraphicFramePr>
            <a:graphicFrameLocks noGrp="1"/>
          </p:cNvGraphicFramePr>
          <p:nvPr/>
        </p:nvGraphicFramePr>
        <p:xfrm>
          <a:off x="731520" y="1463040"/>
          <a:ext cx="10725912" cy="4663440"/>
        </p:xfrm>
        <a:graphic>
          <a:graphicData uri="http://schemas.openxmlformats.org/drawingml/2006/table">
            <a:tbl>
              <a:tblPr firstRow="1" bandRow="1">
                <a:tableStyleId>{5C22544A-7EE6-4342-B048-85BDC9FD1C3A}</a:tableStyleId>
              </a:tblPr>
              <a:tblGrid>
                <a:gridCol w="2011680"/>
                <a:gridCol w="3291840"/>
                <a:gridCol w="3931920"/>
                <a:gridCol w="1490472"/>
              </a:tblGrid>
              <a:tr h="777240">
                <a:tc>
                  <a:txBody>
                    <a:bodyPr/>
                    <a:lstStyle/>
                    <a:p>
                      <a:pPr algn="ctr">
                        <a:defRPr sz="1200" b="1">
                          <a:solidFill>
                            <a:srgbClr val="FFFFFF"/>
                          </a:solidFill>
                          <a:latin typeface="Pretendard"/>
                        </a:defRPr>
                      </a:pPr>
                      <a:r>
                        <a:t>비교 영역</a:t>
                      </a:r>
                    </a:p>
                  </a:txBody>
                  <a:tcPr>
                    <a:solidFill>
                      <a:srgbClr val="1E293B"/>
                    </a:solidFill>
                  </a:tcPr>
                </a:tc>
                <a:tc>
                  <a:txBody>
                    <a:bodyPr/>
                    <a:lstStyle/>
                    <a:p>
                      <a:pPr algn="ctr">
                        <a:defRPr sz="1200" b="1">
                          <a:solidFill>
                            <a:srgbClr val="FFFFFF"/>
                          </a:solidFill>
                          <a:latin typeface="Pretendard"/>
                        </a:defRPr>
                      </a:pPr>
                      <a:r>
                        <a:t>중간 발표 (AS-IS)</a:t>
                      </a:r>
                    </a:p>
                  </a:txBody>
                  <a:tcPr>
                    <a:solidFill>
                      <a:srgbClr val="1E293B"/>
                    </a:solidFill>
                  </a:tcPr>
                </a:tc>
                <a:tc>
                  <a:txBody>
                    <a:bodyPr/>
                    <a:lstStyle/>
                    <a:p>
                      <a:pPr algn="ctr">
                        <a:defRPr sz="1200" b="1">
                          <a:solidFill>
                            <a:srgbClr val="FFFFFF"/>
                          </a:solidFill>
                          <a:latin typeface="Pretendard"/>
                        </a:defRPr>
                      </a:pPr>
                      <a:r>
                        <a:t>고도화 완성본 (TO-BE)</a:t>
                      </a:r>
                    </a:p>
                  </a:txBody>
                  <a:tcPr>
                    <a:solidFill>
                      <a:srgbClr val="1E293B"/>
                    </a:solidFill>
                  </a:tcPr>
                </a:tc>
                <a:tc>
                  <a:txBody>
                    <a:bodyPr/>
                    <a:lstStyle/>
                    <a:p>
                      <a:pPr algn="ctr">
                        <a:defRPr sz="1200" b="1">
                          <a:solidFill>
                            <a:srgbClr val="FFFFFF"/>
                          </a:solidFill>
                          <a:latin typeface="Pretendard"/>
                        </a:defRPr>
                      </a:pPr>
                      <a:r>
                        <a:t>개선 효과</a:t>
                      </a:r>
                    </a:p>
                  </a:txBody>
                  <a:tcPr>
                    <a:solidFill>
                      <a:srgbClr val="1E293B"/>
                    </a:solidFill>
                  </a:tcPr>
                </a:tc>
              </a:tr>
              <a:tr h="777240">
                <a:tc>
                  <a:txBody>
                    <a:bodyPr/>
                    <a:lstStyle/>
                    <a:p>
                      <a:pPr>
                        <a:defRPr sz="1100" b="1">
                          <a:solidFill>
                            <a:srgbClr val="1E293B"/>
                          </a:solidFill>
                          <a:latin typeface="Pretendard"/>
                        </a:defRPr>
                      </a:pPr>
                      <a:r>
                        <a:t>1. 식약처 DB 검색</a:t>
                      </a:r>
                    </a:p>
                  </a:txBody>
                  <a:tcPr>
                    <a:solidFill>
                      <a:srgbClr val="FFFFFF"/>
                    </a:solidFill>
                  </a:tcPr>
                </a:tc>
                <a:tc>
                  <a:txBody>
                    <a:bodyPr/>
                    <a:lstStyle/>
                    <a:p>
                      <a:pPr>
                        <a:defRPr sz="1050" b="0">
                          <a:solidFill>
                            <a:srgbClr val="0F172A"/>
                          </a:solidFill>
                          <a:latin typeface="Pretendard"/>
                        </a:defRPr>
                      </a:pPr>
                      <a:r>
                        <a:t>Pandas 순차 탐색 (50ms+ 지연, CSV 5MB 메모리 점유)</a:t>
                      </a:r>
                    </a:p>
                  </a:txBody>
                  <a:tcPr>
                    <a:solidFill>
                      <a:srgbClr val="FFFFFF"/>
                    </a:solidFill>
                  </a:tcPr>
                </a:tc>
                <a:tc>
                  <a:txBody>
                    <a:bodyPr/>
                    <a:lstStyle/>
                    <a:p>
                      <a:pPr>
                        <a:defRPr sz="1050" b="0">
                          <a:solidFill>
                            <a:srgbClr val="0F172A"/>
                          </a:solidFill>
                          <a:latin typeface="Pretendard"/>
                        </a:defRPr>
                      </a:pPr>
                      <a:r>
                        <a:t>SQLite FTS5 가상테이블 전문 검색 (평균 1.24ms, 0MB RAM)</a:t>
                      </a:r>
                    </a:p>
                  </a:txBody>
                  <a:tcPr>
                    <a:solidFill>
                      <a:srgbClr val="FFFFFF"/>
                    </a:solidFill>
                  </a:tcPr>
                </a:tc>
                <a:tc>
                  <a:txBody>
                    <a:bodyPr/>
                    <a:lstStyle/>
                    <a:p>
                      <a:pPr algn="ctr">
                        <a:defRPr sz="1100" b="1">
                          <a:solidFill>
                            <a:srgbClr val="10B981"/>
                          </a:solidFill>
                          <a:latin typeface="Pretendard"/>
                        </a:defRPr>
                      </a:pPr>
                      <a:r>
                        <a:t>40배 초고속화 ⚡</a:t>
                      </a:r>
                    </a:p>
                  </a:txBody>
                  <a:tcPr>
                    <a:solidFill>
                      <a:srgbClr val="FFFFFF"/>
                    </a:solidFill>
                  </a:tcPr>
                </a:tc>
              </a:tr>
              <a:tr h="777240">
                <a:tc>
                  <a:txBody>
                    <a:bodyPr/>
                    <a:lstStyle/>
                    <a:p>
                      <a:pPr>
                        <a:defRPr sz="1100" b="1">
                          <a:solidFill>
                            <a:srgbClr val="1E293B"/>
                          </a:solidFill>
                          <a:latin typeface="Pretendard"/>
                        </a:defRPr>
                      </a:pPr>
                      <a:r>
                        <a:t>2. 질문 처리 범위</a:t>
                      </a:r>
                    </a:p>
                  </a:txBody>
                  <a:tcPr>
                    <a:solidFill>
                      <a:srgbClr val="F8FAFC"/>
                    </a:solidFill>
                  </a:tcPr>
                </a:tc>
                <a:tc>
                  <a:txBody>
                    <a:bodyPr/>
                    <a:lstStyle/>
                    <a:p>
                      <a:pPr>
                        <a:defRPr sz="1050" b="0">
                          <a:solidFill>
                            <a:srgbClr val="0F172A"/>
                          </a:solidFill>
                          <a:latin typeface="Pretendard"/>
                        </a:defRPr>
                      </a:pPr>
                      <a:r>
                        <a:t>단일 질문만 처리 (식단+운동 복합 발화 시 한쪽 데이터 유실)</a:t>
                      </a:r>
                    </a:p>
                  </a:txBody>
                  <a:tcPr>
                    <a:solidFill>
                      <a:srgbClr val="F8FAFC"/>
                    </a:solidFill>
                  </a:tcPr>
                </a:tc>
                <a:tc>
                  <a:txBody>
                    <a:bodyPr/>
                    <a:lstStyle/>
                    <a:p>
                      <a:pPr>
                        <a:defRPr sz="1050" b="0">
                          <a:solidFill>
                            <a:srgbClr val="0F172A"/>
                          </a:solidFill>
                          <a:latin typeface="Pretendard"/>
                        </a:defRPr>
                      </a:pPr>
                      <a:r>
                        <a:t>ReAct 의도 분해 + re.findall 다중 파서 (식단 &amp; 운동 100% 분해)</a:t>
                      </a:r>
                    </a:p>
                  </a:txBody>
                  <a:tcPr>
                    <a:solidFill>
                      <a:srgbClr val="F8FAFC"/>
                    </a:solidFill>
                  </a:tcPr>
                </a:tc>
                <a:tc>
                  <a:txBody>
                    <a:bodyPr/>
                    <a:lstStyle/>
                    <a:p>
                      <a:pPr algn="ctr">
                        <a:defRPr sz="1100" b="1">
                          <a:solidFill>
                            <a:srgbClr val="10B981"/>
                          </a:solidFill>
                          <a:latin typeface="Pretendard"/>
                        </a:defRPr>
                      </a:pPr>
                      <a:r>
                        <a:t>데이터 유실 0% 🔄</a:t>
                      </a:r>
                    </a:p>
                  </a:txBody>
                  <a:tcPr>
                    <a:solidFill>
                      <a:srgbClr val="F8FAFC"/>
                    </a:solidFill>
                  </a:tcPr>
                </a:tc>
              </a:tr>
              <a:tr h="777240">
                <a:tc>
                  <a:txBody>
                    <a:bodyPr/>
                    <a:lstStyle/>
                    <a:p>
                      <a:pPr>
                        <a:defRPr sz="1100" b="1">
                          <a:solidFill>
                            <a:srgbClr val="1E293B"/>
                          </a:solidFill>
                          <a:latin typeface="Pretendard"/>
                        </a:defRPr>
                      </a:pPr>
                      <a:r>
                        <a:t>3. 스마트 저장 UX</a:t>
                      </a:r>
                    </a:p>
                  </a:txBody>
                  <a:tcPr>
                    <a:solidFill>
                      <a:srgbClr val="FFFFFF"/>
                    </a:solidFill>
                  </a:tcPr>
                </a:tc>
                <a:tc>
                  <a:txBody>
                    <a:bodyPr/>
                    <a:lstStyle/>
                    <a:p>
                      <a:pPr>
                        <a:defRPr sz="1050" b="0">
                          <a:solidFill>
                            <a:srgbClr val="0F172A"/>
                          </a:solidFill>
                          <a:latin typeface="Pretendard"/>
                        </a:defRPr>
                      </a:pPr>
                      <a:r>
                        <a:t>단일 저장 카드 노출 ➔ 복합 데이터 저장 불가</a:t>
                      </a:r>
                    </a:p>
                  </a:txBody>
                  <a:tcPr>
                    <a:solidFill>
                      <a:srgbClr val="FFFFFF"/>
                    </a:solidFill>
                  </a:tcPr>
                </a:tc>
                <a:tc>
                  <a:txBody>
                    <a:bodyPr/>
                    <a:lstStyle/>
                    <a:p>
                      <a:pPr>
                        <a:defRPr sz="1050" b="0">
                          <a:solidFill>
                            <a:srgbClr val="0F172A"/>
                          </a:solidFill>
                          <a:latin typeface="Pretendard"/>
                        </a:defRPr>
                      </a:pPr>
                      <a:r>
                        <a:t>2열 나란히 멀티 카드 렌더링 + [⚡ 원클릭 동시 저장] 마스터 버튼</a:t>
                      </a:r>
                    </a:p>
                  </a:txBody>
                  <a:tcPr>
                    <a:solidFill>
                      <a:srgbClr val="FFFFFF"/>
                    </a:solidFill>
                  </a:tcPr>
                </a:tc>
                <a:tc>
                  <a:txBody>
                    <a:bodyPr/>
                    <a:lstStyle/>
                    <a:p>
                      <a:pPr algn="ctr">
                        <a:defRPr sz="1100" b="1">
                          <a:solidFill>
                            <a:srgbClr val="10B981"/>
                          </a:solidFill>
                          <a:latin typeface="Pretendard"/>
                        </a:defRPr>
                      </a:pPr>
                      <a:r>
                        <a:t>UX 만족도 극대화 🍱</a:t>
                      </a:r>
                    </a:p>
                  </a:txBody>
                  <a:tcPr>
                    <a:solidFill>
                      <a:srgbClr val="FFFFFF"/>
                    </a:solidFill>
                  </a:tcPr>
                </a:tc>
              </a:tr>
              <a:tr h="777240">
                <a:tc>
                  <a:txBody>
                    <a:bodyPr/>
                    <a:lstStyle/>
                    <a:p>
                      <a:pPr>
                        <a:defRPr sz="1100" b="1">
                          <a:solidFill>
                            <a:srgbClr val="1E293B"/>
                          </a:solidFill>
                          <a:latin typeface="Pretendard"/>
                        </a:defRPr>
                      </a:pPr>
                      <a:r>
                        <a:t>4. 데이터 검색 전략</a:t>
                      </a:r>
                    </a:p>
                  </a:txBody>
                  <a:tcPr>
                    <a:solidFill>
                      <a:srgbClr val="F8FAFC"/>
                    </a:solidFill>
                  </a:tcPr>
                </a:tc>
                <a:tc>
                  <a:txBody>
                    <a:bodyPr/>
                    <a:lstStyle/>
                    <a:p>
                      <a:pPr>
                        <a:defRPr sz="1050" b="0">
                          <a:solidFill>
                            <a:srgbClr val="0F172A"/>
                          </a:solidFill>
                          <a:latin typeface="Pretendard"/>
                        </a:defRPr>
                      </a:pPr>
                      <a:r>
                        <a:t>무분별한 정형 데이터 벡터화 시도로 오탐 및 속도 저하</a:t>
                      </a:r>
                    </a:p>
                  </a:txBody>
                  <a:tcPr>
                    <a:solidFill>
                      <a:srgbClr val="F8FAFC"/>
                    </a:solidFill>
                  </a:tcPr>
                </a:tc>
                <a:tc>
                  <a:txBody>
                    <a:bodyPr/>
                    <a:lstStyle/>
                    <a:p>
                      <a:pPr>
                        <a:defRPr sz="1050" b="0">
                          <a:solidFill>
                            <a:srgbClr val="0F172A"/>
                          </a:solidFill>
                          <a:latin typeface="Pretendard"/>
                        </a:defRPr>
                      </a:pPr>
                      <a:r>
                        <a:t>정형 데이터(SQLite FTS5) vs 비정형 문서(임상 RAG) 명확한 이원화</a:t>
                      </a:r>
                    </a:p>
                  </a:txBody>
                  <a:tcPr>
                    <a:solidFill>
                      <a:srgbClr val="F8FAFC"/>
                    </a:solidFill>
                  </a:tcPr>
                </a:tc>
                <a:tc>
                  <a:txBody>
                    <a:bodyPr/>
                    <a:lstStyle/>
                    <a:p>
                      <a:pPr algn="ctr">
                        <a:defRPr sz="1100" b="1">
                          <a:solidFill>
                            <a:srgbClr val="10B981"/>
                          </a:solidFill>
                          <a:latin typeface="Pretendard"/>
                        </a:defRPr>
                      </a:pPr>
                      <a:r>
                        <a:t>엔터프라이즈 정석 📚</a:t>
                      </a:r>
                    </a:p>
                  </a:txBody>
                  <a:tcPr>
                    <a:solidFill>
                      <a:srgbClr val="F8FAFC"/>
                    </a:solidFill>
                  </a:tcPr>
                </a:tc>
              </a:tr>
              <a:tr h="777240">
                <a:tc>
                  <a:txBody>
                    <a:bodyPr/>
                    <a:lstStyle/>
                    <a:p>
                      <a:pPr>
                        <a:defRPr sz="1100" b="1">
                          <a:solidFill>
                            <a:srgbClr val="1E293B"/>
                          </a:solidFill>
                          <a:latin typeface="Pretendard"/>
                        </a:defRPr>
                      </a:pPr>
                      <a:r>
                        <a:t>5. 신뢰도 &amp; 환각 방지</a:t>
                      </a:r>
                    </a:p>
                  </a:txBody>
                  <a:tcPr>
                    <a:solidFill>
                      <a:srgbClr val="FFFFFF"/>
                    </a:solidFill>
                  </a:tcPr>
                </a:tc>
                <a:tc>
                  <a:txBody>
                    <a:bodyPr/>
                    <a:lstStyle/>
                    <a:p>
                      <a:pPr>
                        <a:defRPr sz="1050" b="0">
                          <a:solidFill>
                            <a:srgbClr val="0F172A"/>
                          </a:solidFill>
                          <a:latin typeface="Pretendard"/>
                        </a:defRPr>
                      </a:pPr>
                      <a:r>
                        <a:t>출처 미표기, 미등록 음식 검색 실패 시 단절 대화</a:t>
                      </a:r>
                    </a:p>
                  </a:txBody>
                  <a:tcPr>
                    <a:solidFill>
                      <a:srgbClr val="FFFFFF"/>
                    </a:solidFill>
                  </a:tcPr>
                </a:tc>
                <a:tc>
                  <a:txBody>
                    <a:bodyPr/>
                    <a:lstStyle/>
                    <a:p>
                      <a:pPr>
                        <a:defRPr sz="1050" b="0">
                          <a:solidFill>
                            <a:srgbClr val="0F172A"/>
                          </a:solidFill>
                          <a:latin typeface="Pretendard"/>
                        </a:defRPr>
                      </a:pPr>
                      <a:r>
                        <a:t>식약처/ACSM/KDRIs 공식 출처 뱃지 + 10대 카테고리 스마트 폴백</a:t>
                      </a:r>
                    </a:p>
                  </a:txBody>
                  <a:tcPr>
                    <a:solidFill>
                      <a:srgbClr val="FFFFFF"/>
                    </a:solidFill>
                  </a:tcPr>
                </a:tc>
                <a:tc>
                  <a:txBody>
                    <a:bodyPr/>
                    <a:lstStyle/>
                    <a:p>
                      <a:pPr algn="ctr">
                        <a:defRPr sz="1100" b="1">
                          <a:solidFill>
                            <a:srgbClr val="10B981"/>
                          </a:solidFill>
                          <a:latin typeface="Pretendard"/>
                        </a:defRPr>
                      </a:pPr>
                      <a:r>
                        <a:t>설명 가능성 100% 🛡️</a:t>
                      </a:r>
                    </a:p>
                  </a:txBody>
                  <a:tcP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483</TotalTime>
  <Words>1352</Words>
  <Application>Microsoft Macintosh PowerPoint</Application>
  <PresentationFormat>와이드스크린</PresentationFormat>
  <Paragraphs>153</Paragraphs>
  <Slides>16</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16</vt:i4>
      </vt:variant>
    </vt:vector>
  </HeadingPairs>
  <TitlesOfParts>
    <vt:vector size="20" baseType="lpstr">
      <vt:lpstr>Pretendard</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남섭 김</cp:lastModifiedBy>
  <cp:revision>35</cp:revision>
  <dcterms:created xsi:type="dcterms:W3CDTF">2013-01-27T09:14:16Z</dcterms:created>
  <dcterms:modified xsi:type="dcterms:W3CDTF">2026-08-30T10:55:09Z</dcterms:modified>
  <cp:category/>
</cp:coreProperties>
</file>