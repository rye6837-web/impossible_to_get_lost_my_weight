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79" r:id="rId7"/>
    <p:sldId id="273" r:id="rId8"/>
    <p:sldId id="270" r:id="rId9"/>
    <p:sldId id="275" r:id="rId10"/>
    <p:sldId id="274" r:id="rId11"/>
    <p:sldId id="265" r:id="rId12"/>
    <p:sldId id="280" r:id="rId13"/>
    <p:sldId id="263" r:id="rId14"/>
    <p:sldId id="267" r:id="rId15"/>
    <p:sldId id="269" r:id="rId16"/>
    <p:sldId id="28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84"/>
    <p:restoredTop sz="94679"/>
  </p:normalViewPr>
  <p:slideViewPr>
    <p:cSldViewPr snapToGrid="0" snapToObjects="1">
      <p:cViewPr varScale="1">
        <p:scale>
          <a:sx n="104" d="100"/>
          <a:sy n="104" d="100"/>
        </p:scale>
        <p:origin x="33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possibletogetlostmyweight-xhh2txvidhdpx2negwnvzy.streamlit.app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357" y="0"/>
            <a:ext cx="12191695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332720" cy="1249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  <a:latin typeface="Pretendard"/>
              </a:defRPr>
            </a:pPr>
            <a:r>
              <a:rPr dirty="0"/>
              <a:t>AI AGENT PIPELINE &amp; NOTEBOOK VERIFICATION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  <a:latin typeface="Pretendard"/>
              </a:defRPr>
            </a:pPr>
            <a:r>
              <a:rPr dirty="0"/>
              <a:t>🥗 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AI</a:t>
            </a:r>
            <a:r>
              <a:rPr lang="ko-KR" altLang="en-US" dirty="0">
                <a:solidFill>
                  <a:schemeClr val="tx2">
                    <a:lumMod val="50000"/>
                  </a:schemeClr>
                </a:solidFill>
              </a:rPr>
              <a:t> 영양 </a:t>
            </a:r>
            <a:r>
              <a:rPr lang="ko-KR" altLang="en-US">
                <a:solidFill>
                  <a:schemeClr val="tx2">
                    <a:lumMod val="50000"/>
                  </a:schemeClr>
                </a:solidFill>
              </a:rPr>
              <a:t>및 다이어트 </a:t>
            </a:r>
            <a:r>
              <a:rPr>
                <a:solidFill>
                  <a:schemeClr val="tx2">
                    <a:lumMod val="50000"/>
                  </a:schemeClr>
                </a:solidFill>
              </a:rPr>
              <a:t>코치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에이전트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defRPr sz="1150">
                <a:solidFill>
                  <a:srgbClr val="94A3B8"/>
                </a:solidFill>
                <a:latin typeface="Pretendard"/>
              </a:defRPr>
            </a:pP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발표자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: </a:t>
            </a:r>
            <a:r>
              <a:rPr lang="ko-KR" altLang="en-US" dirty="0" err="1">
                <a:solidFill>
                  <a:schemeClr val="tx2">
                    <a:lumMod val="50000"/>
                  </a:schemeClr>
                </a:solidFill>
              </a:rPr>
              <a:t>김남섭</a:t>
            </a:r>
            <a:r>
              <a:rPr lang="ko-KR" alt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| 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기술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스택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: Gemini Flash ·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LangGraph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· Self-RAG · SQLite ·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Streamlit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770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프레젠테이션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MVP 1장 요약 ➔ 주피터 셀별 파이프라인 실측 ➔ 실무 트러블슈팅 ➔ 결론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19656"/>
            <a:ext cx="2002536" cy="19062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300000"/>
              </a:lnSpc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dirty="0"/>
              <a:t>Ⅰ. MVP </a:t>
            </a:r>
            <a:r>
              <a:rPr dirty="0" err="1"/>
              <a:t>구동</a:t>
            </a:r>
            <a:r>
              <a:rPr dirty="0"/>
              <a:t> </a:t>
            </a:r>
            <a:r>
              <a:rPr dirty="0" err="1"/>
              <a:t>요약</a:t>
            </a:r>
            <a:endParaRPr dirty="0"/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01. </a:t>
            </a:r>
            <a:r>
              <a:rPr dirty="0" err="1"/>
              <a:t>서비스</a:t>
            </a:r>
            <a:r>
              <a:rPr dirty="0"/>
              <a:t> MVP </a:t>
            </a:r>
            <a:r>
              <a:rPr dirty="0" err="1"/>
              <a:t>구</a:t>
            </a:r>
            <a:r>
              <a:rPr lang="ko-KR" altLang="en-US" dirty="0"/>
              <a:t>동</a:t>
            </a:r>
            <a:endParaRPr dirty="0"/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02. </a:t>
            </a:r>
            <a:r>
              <a:rPr dirty="0" err="1"/>
              <a:t>멀티모달</a:t>
            </a:r>
            <a:r>
              <a:rPr dirty="0"/>
              <a:t> &amp; </a:t>
            </a:r>
            <a:r>
              <a:rPr dirty="0" err="1"/>
              <a:t>순</a:t>
            </a:r>
            <a:r>
              <a:rPr dirty="0"/>
              <a:t> </a:t>
            </a:r>
            <a:r>
              <a:rPr dirty="0" err="1"/>
              <a:t>칼로리</a:t>
            </a:r>
            <a:r>
              <a:rPr dirty="0"/>
              <a:t>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00199"/>
            <a:ext cx="2514600" cy="457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608" y="1819656"/>
            <a:ext cx="2002536" cy="3168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300000"/>
              </a:lnSpc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dirty="0"/>
              <a:t>Ⅱ. </a:t>
            </a:r>
            <a:r>
              <a:rPr dirty="0" err="1"/>
              <a:t>노트북</a:t>
            </a:r>
            <a:r>
              <a:rPr dirty="0"/>
              <a:t> </a:t>
            </a:r>
            <a:r>
              <a:rPr dirty="0" err="1"/>
              <a:t>도구</a:t>
            </a:r>
            <a:r>
              <a:rPr dirty="0"/>
              <a:t> </a:t>
            </a:r>
            <a:r>
              <a:rPr dirty="0" err="1"/>
              <a:t>실측</a:t>
            </a:r>
            <a:endParaRPr dirty="0"/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03. </a:t>
            </a:r>
            <a:r>
              <a:rPr dirty="0" err="1"/>
              <a:t>LangGraph</a:t>
            </a:r>
            <a:r>
              <a:rPr dirty="0"/>
              <a:t> </a:t>
            </a:r>
            <a:r>
              <a:rPr dirty="0" err="1"/>
              <a:t>시각화</a:t>
            </a:r>
            <a:endParaRPr dirty="0"/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04. [Tool 1] </a:t>
            </a:r>
            <a:r>
              <a:rPr dirty="0" err="1"/>
              <a:t>식약처</a:t>
            </a:r>
            <a:r>
              <a:rPr dirty="0"/>
              <a:t> DB</a:t>
            </a:r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05. [Tool 2] METs </a:t>
            </a:r>
            <a:r>
              <a:rPr dirty="0" err="1"/>
              <a:t>운동</a:t>
            </a:r>
            <a:endParaRPr dirty="0"/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06. [Tool 3] </a:t>
            </a:r>
            <a:r>
              <a:rPr dirty="0" err="1"/>
              <a:t>영양</a:t>
            </a:r>
            <a:r>
              <a:rPr dirty="0"/>
              <a:t>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00200"/>
            <a:ext cx="2514600" cy="457199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819656"/>
            <a:ext cx="2002536" cy="25372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300000"/>
              </a:lnSpc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dirty="0"/>
              <a:t>Ⅲ. </a:t>
            </a:r>
            <a:r>
              <a:rPr dirty="0" err="1"/>
              <a:t>에이전트</a:t>
            </a:r>
            <a:r>
              <a:rPr dirty="0"/>
              <a:t> &amp; Self-RAG</a:t>
            </a:r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07. </a:t>
            </a:r>
            <a:r>
              <a:rPr dirty="0" err="1"/>
              <a:t>식단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&amp; MEAL</a:t>
            </a:r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08. </a:t>
            </a:r>
            <a:r>
              <a:rPr dirty="0" err="1"/>
              <a:t>운동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 &amp; EX</a:t>
            </a:r>
            <a:r>
              <a:rPr lang="en" dirty="0"/>
              <a:t> </a:t>
            </a:r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dirty="0"/>
              <a:t>•  09. Self-RAG 3</a:t>
            </a:r>
            <a:r>
              <a:rPr lang="ko-KR" altLang="en-US" dirty="0"/>
              <a:t>단계</a:t>
            </a:r>
            <a:endParaRPr lang="en" dirty="0"/>
          </a:p>
        </p:txBody>
      </p:sp>
      <p:sp>
        <p:nvSpPr>
          <p:cNvPr id="12" name="Rounded Rectangle 11"/>
          <p:cNvSpPr/>
          <p:nvPr/>
        </p:nvSpPr>
        <p:spPr>
          <a:xfrm>
            <a:off x="8933688" y="1600200"/>
            <a:ext cx="2514600" cy="457199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819656"/>
            <a:ext cx="2002536" cy="24602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300000"/>
              </a:lnSpc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dirty="0"/>
              <a:t>Ⅳ. </a:t>
            </a:r>
            <a:r>
              <a:rPr dirty="0" err="1"/>
              <a:t>트러블슈팅</a:t>
            </a:r>
            <a:r>
              <a:rPr dirty="0"/>
              <a:t> &amp; </a:t>
            </a:r>
            <a:r>
              <a:rPr dirty="0" err="1"/>
              <a:t>결론</a:t>
            </a:r>
            <a:endParaRPr dirty="0"/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</a:t>
            </a:r>
            <a:r>
              <a:rPr lang="en-US" altLang="ko-KR" dirty="0"/>
              <a:t>10. 503/429/404 </a:t>
            </a:r>
            <a:r>
              <a:rPr lang="ko-KR" altLang="en-US" dirty="0"/>
              <a:t>모델 복원력</a:t>
            </a:r>
            <a:endParaRPr lang="en-US" altLang="ko-KR" dirty="0"/>
          </a:p>
          <a:p>
            <a:pPr>
              <a:lnSpc>
                <a:spcPct val="30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•  11. </a:t>
            </a:r>
            <a:r>
              <a:rPr lang="ko-KR" altLang="en-US" dirty="0"/>
              <a:t>문제점 및 보완사항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770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rPr dirty="0"/>
              <a:t>MVP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dirty="0" err="1"/>
              <a:t>서비스</a:t>
            </a:r>
            <a:r>
              <a:rPr dirty="0"/>
              <a:t> MVP </a:t>
            </a:r>
            <a:r>
              <a:rPr dirty="0" err="1"/>
              <a:t>구동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 (Live Prototype)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rPr lang="en" dirty="0">
                <a:hlinkClick r:id="rId2"/>
              </a:rPr>
              <a:t>https://impossibletogetlostmyweight-xhh2txvidhdpx2negwnvzy.streamlit.app/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19656"/>
            <a:ext cx="4718304" cy="17856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dirty="0"/>
              <a:t>🖥️ </a:t>
            </a:r>
            <a:r>
              <a:rPr dirty="0" err="1"/>
              <a:t>클라이언트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구동</a:t>
            </a:r>
            <a:r>
              <a:rPr dirty="0"/>
              <a:t> </a:t>
            </a:r>
            <a:r>
              <a:rPr dirty="0" err="1"/>
              <a:t>화면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📸 </a:t>
            </a:r>
            <a:r>
              <a:rPr dirty="0" err="1"/>
              <a:t>멀티모달</a:t>
            </a:r>
            <a:r>
              <a:rPr dirty="0"/>
              <a:t> </a:t>
            </a:r>
            <a:r>
              <a:rPr dirty="0" err="1"/>
              <a:t>식단</a:t>
            </a:r>
            <a:r>
              <a:rPr dirty="0"/>
              <a:t> </a:t>
            </a:r>
            <a:r>
              <a:rPr dirty="0" err="1"/>
              <a:t>인식</a:t>
            </a:r>
            <a:r>
              <a:rPr dirty="0"/>
              <a:t>: </a:t>
            </a:r>
            <a:r>
              <a:rPr dirty="0" err="1"/>
              <a:t>카메라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🍱 HIL </a:t>
            </a:r>
            <a:r>
              <a:rPr dirty="0" err="1"/>
              <a:t>스마트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: AI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원클릭</a:t>
            </a:r>
            <a:r>
              <a:rPr dirty="0"/>
              <a:t> DB </a:t>
            </a:r>
            <a:r>
              <a:rPr dirty="0" err="1"/>
              <a:t>저장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📊 </a:t>
            </a:r>
            <a:r>
              <a:rPr dirty="0" err="1"/>
              <a:t>순</a:t>
            </a:r>
            <a:r>
              <a:rPr dirty="0"/>
              <a:t> </a:t>
            </a:r>
            <a:r>
              <a:rPr dirty="0" err="1"/>
              <a:t>칼로리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: </a:t>
            </a:r>
            <a:r>
              <a:rPr dirty="0" err="1"/>
              <a:t>섭취량</a:t>
            </a:r>
            <a:r>
              <a:rPr dirty="0"/>
              <a:t> - </a:t>
            </a:r>
            <a:r>
              <a:rPr dirty="0" err="1"/>
              <a:t>소모량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게이지</a:t>
            </a:r>
            <a:r>
              <a:rPr dirty="0"/>
              <a:t> </a:t>
            </a:r>
            <a:r>
              <a:rPr dirty="0" err="1"/>
              <a:t>연동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📱 </a:t>
            </a:r>
            <a:r>
              <a:rPr dirty="0" err="1"/>
              <a:t>텔레그램</a:t>
            </a:r>
            <a:r>
              <a:rPr dirty="0"/>
              <a:t> </a:t>
            </a:r>
            <a:r>
              <a:rPr dirty="0" err="1"/>
              <a:t>월간</a:t>
            </a:r>
            <a:r>
              <a:rPr dirty="0"/>
              <a:t> </a:t>
            </a:r>
            <a:r>
              <a:rPr dirty="0" err="1"/>
              <a:t>결산</a:t>
            </a:r>
            <a:r>
              <a:rPr dirty="0"/>
              <a:t>: </a:t>
            </a:r>
            <a:r>
              <a:rPr dirty="0" err="1"/>
              <a:t>매월</a:t>
            </a:r>
            <a:r>
              <a:rPr dirty="0"/>
              <a:t> 1일 </a:t>
            </a:r>
            <a:r>
              <a:rPr dirty="0" err="1"/>
              <a:t>자정</a:t>
            </a:r>
            <a:r>
              <a:rPr dirty="0"/>
              <a:t> </a:t>
            </a:r>
            <a:r>
              <a:rPr dirty="0" err="1"/>
              <a:t>통계</a:t>
            </a:r>
            <a:r>
              <a:rPr dirty="0"/>
              <a:t> &amp;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전송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2468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4224" y="173736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웹 프레임워크</a:t>
            </a:r>
          </a:p>
          <a:p>
            <a:pPr>
              <a:defRPr sz="1800" b="1">
                <a:solidFill>
                  <a:srgbClr val="0066CC"/>
                </a:solidFill>
                <a:latin typeface="Pretendard"/>
              </a:defRPr>
            </a:pPr>
            <a:r>
              <a:t>Streamlit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반응형 인터랙티브 웹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600200"/>
            <a:ext cx="2468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173736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rPr dirty="0" err="1"/>
              <a:t>인공지능</a:t>
            </a:r>
            <a:r>
              <a:rPr dirty="0"/>
              <a:t> </a:t>
            </a:r>
            <a:r>
              <a:rPr dirty="0" err="1"/>
              <a:t>모델</a:t>
            </a:r>
            <a:endParaRPr dirty="0"/>
          </a:p>
          <a:p>
            <a:pPr>
              <a:defRPr sz="1800" b="1">
                <a:solidFill>
                  <a:srgbClr val="10B981"/>
                </a:solidFill>
                <a:latin typeface="Pretendard"/>
              </a:defRPr>
            </a:pPr>
            <a:r>
              <a:rPr dirty="0"/>
              <a:t>Gemini Flash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rPr dirty="0" err="1"/>
              <a:t>초고속</a:t>
            </a:r>
            <a:r>
              <a:rPr dirty="0"/>
              <a:t> </a:t>
            </a:r>
            <a:r>
              <a:rPr dirty="0" err="1"/>
              <a:t>멀티모달</a:t>
            </a:r>
            <a:r>
              <a:rPr dirty="0"/>
              <a:t> &amp; </a:t>
            </a:r>
            <a:r>
              <a:rPr dirty="0" err="1"/>
              <a:t>도구</a:t>
            </a:r>
            <a:r>
              <a:rPr dirty="0"/>
              <a:t> </a:t>
            </a:r>
            <a:r>
              <a:rPr dirty="0" err="1"/>
              <a:t>바인딩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227064" y="3246120"/>
            <a:ext cx="2468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33832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rPr dirty="0" err="1"/>
              <a:t>데이터베이스</a:t>
            </a:r>
            <a:endParaRPr dirty="0"/>
          </a:p>
          <a:p>
            <a:pPr>
              <a:defRPr sz="1800" b="1">
                <a:solidFill>
                  <a:srgbClr val="8B5CF6"/>
                </a:solidFill>
                <a:latin typeface="Pretendard"/>
              </a:defRPr>
            </a:pPr>
            <a:r>
              <a:rPr dirty="0"/>
              <a:t>SQLite + Salt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rPr dirty="0"/>
              <a:t>SHA-256 </a:t>
            </a:r>
            <a:r>
              <a:rPr dirty="0" err="1"/>
              <a:t>개인화</a:t>
            </a:r>
            <a:r>
              <a:rPr dirty="0"/>
              <a:t> </a:t>
            </a:r>
            <a:r>
              <a:rPr dirty="0" err="1"/>
              <a:t>암호화</a:t>
            </a:r>
            <a:r>
              <a:rPr dirty="0"/>
              <a:t> </a:t>
            </a:r>
            <a:r>
              <a:rPr dirty="0" err="1"/>
              <a:t>격리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988552" y="3246120"/>
            <a:ext cx="2468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2" y="33832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정기 알림</a:t>
            </a:r>
          </a:p>
          <a:p>
            <a:pPr>
              <a:defRPr sz="1800" b="1">
                <a:solidFill>
                  <a:srgbClr val="F59E0B"/>
                </a:solidFill>
                <a:latin typeface="Pretendard"/>
              </a:defRPr>
            </a:pPr>
            <a:r>
              <a:t>Telegram Bot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매월 1일 월간 리포트 자동 발송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56632"/>
            <a:ext cx="10268712" cy="8072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dirty="0"/>
              <a:t>💡 MVP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가치</a:t>
            </a:r>
            <a:r>
              <a:rPr dirty="0"/>
              <a:t> (Core MVP Value)</a:t>
            </a:r>
          </a:p>
          <a:p>
            <a:pPr>
              <a:lnSpc>
                <a:spcPct val="150000"/>
              </a:lnSpc>
              <a:defRPr sz="1100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-</a:t>
            </a:r>
            <a:r>
              <a:rPr lang="ko-KR" altLang="en-US" dirty="0"/>
              <a:t> 키 </a:t>
            </a:r>
            <a:r>
              <a:rPr lang="en-US" altLang="ko-KR" dirty="0"/>
              <a:t>/</a:t>
            </a:r>
            <a:r>
              <a:rPr lang="ko-KR" altLang="en-US" dirty="0"/>
              <a:t> 몸무게 </a:t>
            </a:r>
            <a:r>
              <a:rPr lang="en-US" altLang="ko-KR" dirty="0"/>
              <a:t>/</a:t>
            </a:r>
            <a:r>
              <a:rPr lang="ko-KR" altLang="en-US" dirty="0"/>
              <a:t> 성별 </a:t>
            </a:r>
            <a:r>
              <a:rPr lang="en-US" altLang="ko-KR" dirty="0"/>
              <a:t>/</a:t>
            </a:r>
            <a:r>
              <a:rPr lang="ko-KR" altLang="en-US" dirty="0"/>
              <a:t> 운동정도 의 간단한 입력으로 개인별 목표 정립</a:t>
            </a:r>
            <a:endParaRPr lang="en-US" dirty="0"/>
          </a:p>
          <a:p>
            <a:pPr>
              <a:lnSpc>
                <a:spcPct val="150000"/>
              </a:lnSpc>
              <a:defRPr sz="1100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입력의</a:t>
            </a:r>
            <a:r>
              <a:rPr dirty="0"/>
              <a:t> </a:t>
            </a:r>
            <a:r>
              <a:rPr dirty="0" err="1"/>
              <a:t>피로도와</a:t>
            </a:r>
            <a:r>
              <a:rPr dirty="0"/>
              <a:t> LLM의 </a:t>
            </a:r>
            <a:r>
              <a:rPr dirty="0" err="1"/>
              <a:t>환각을</a:t>
            </a:r>
            <a:r>
              <a:rPr dirty="0"/>
              <a:t> </a:t>
            </a:r>
            <a:r>
              <a:rPr dirty="0" err="1"/>
              <a:t>해결하여</a:t>
            </a:r>
            <a:r>
              <a:rPr dirty="0"/>
              <a:t>, </a:t>
            </a:r>
            <a:r>
              <a:rPr dirty="0" err="1"/>
              <a:t>사진</a:t>
            </a:r>
            <a:r>
              <a:rPr dirty="0"/>
              <a:t> 1장으로 </a:t>
            </a:r>
            <a:r>
              <a:rPr dirty="0" err="1"/>
              <a:t>식약처</a:t>
            </a:r>
            <a:r>
              <a:rPr dirty="0"/>
              <a:t>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영양</a:t>
            </a:r>
            <a:r>
              <a:rPr dirty="0"/>
              <a:t> </a:t>
            </a:r>
            <a:r>
              <a:rPr dirty="0" err="1"/>
              <a:t>수치와</a:t>
            </a:r>
            <a:r>
              <a:rPr dirty="0"/>
              <a:t> </a:t>
            </a:r>
            <a:r>
              <a:rPr dirty="0" err="1"/>
              <a:t>순</a:t>
            </a:r>
            <a:r>
              <a:rPr dirty="0"/>
              <a:t> </a:t>
            </a:r>
            <a:r>
              <a:rPr dirty="0" err="1"/>
              <a:t>칼로리를</a:t>
            </a:r>
            <a:r>
              <a:rPr dirty="0"/>
              <a:t> </a:t>
            </a:r>
            <a:r>
              <a:rPr lang="ko-KR" altLang="en-US" dirty="0"/>
              <a:t>측정합니다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770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dirty="0"/>
              <a:t>[Cell 2] </a:t>
            </a:r>
            <a:r>
              <a:rPr dirty="0" err="1"/>
              <a:t>LangGraph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 &amp; Mermaid </a:t>
            </a:r>
            <a:r>
              <a:rPr dirty="0" err="1"/>
              <a:t>시각화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rPr dirty="0" err="1"/>
              <a:t>compiled_agent.get_graph</a:t>
            </a:r>
            <a:r>
              <a:rPr dirty="0"/>
              <a:t>().</a:t>
            </a:r>
            <a:r>
              <a:rPr dirty="0" err="1"/>
              <a:t>draw_mermaid</a:t>
            </a:r>
            <a:r>
              <a:rPr dirty="0"/>
              <a:t>() </a:t>
            </a:r>
            <a:r>
              <a:rPr dirty="0" err="1"/>
              <a:t>기반의</a:t>
            </a:r>
            <a:r>
              <a:rPr dirty="0"/>
              <a:t> </a:t>
            </a:r>
            <a:r>
              <a:rPr dirty="0" err="1"/>
              <a:t>조건부</a:t>
            </a:r>
            <a:r>
              <a:rPr dirty="0"/>
              <a:t> </a:t>
            </a:r>
            <a:r>
              <a:rPr dirty="0" err="1"/>
              <a:t>라우팅</a:t>
            </a:r>
            <a:r>
              <a:rPr dirty="0"/>
              <a:t> </a:t>
            </a:r>
            <a:r>
              <a:rPr dirty="0" err="1"/>
              <a:t>워크플로우</a:t>
            </a:r>
            <a:r>
              <a:rPr dirty="0"/>
              <a:t> </a:t>
            </a:r>
            <a:r>
              <a:rPr dirty="0" err="1"/>
              <a:t>실증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497809" y="1600200"/>
            <a:ext cx="4243832" cy="47103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3184" y="1819656"/>
            <a:ext cx="3828352" cy="459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sz="1100" dirty="0"/>
              <a:t>🔀 </a:t>
            </a:r>
            <a:r>
              <a:rPr lang="en-US" sz="1100" dirty="0" err="1"/>
              <a:t>LangGraph</a:t>
            </a:r>
            <a:r>
              <a:rPr lang="en-US" sz="1100" dirty="0"/>
              <a:t> </a:t>
            </a:r>
            <a:r>
              <a:rPr sz="1100" dirty="0" err="1"/>
              <a:t>상태</a:t>
            </a:r>
            <a:r>
              <a:rPr sz="1100" dirty="0"/>
              <a:t> </a:t>
            </a:r>
            <a:r>
              <a:rPr sz="1100" dirty="0" err="1"/>
              <a:t>그래프</a:t>
            </a:r>
            <a:r>
              <a:rPr sz="1100" dirty="0"/>
              <a:t>(</a:t>
            </a:r>
            <a:r>
              <a:rPr sz="1100" dirty="0" err="1"/>
              <a:t>StateGraph</a:t>
            </a:r>
            <a:r>
              <a:rPr sz="1100" dirty="0"/>
              <a:t>) </a:t>
            </a:r>
            <a:r>
              <a:rPr sz="1100" dirty="0" err="1"/>
              <a:t>구조</a:t>
            </a:r>
            <a:endParaRPr sz="1100"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sz="1100" dirty="0"/>
              <a:t>graph TD;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sz="1100" dirty="0"/>
              <a:t>    __start__(</a:t>
            </a:r>
            <a:r>
              <a:rPr lang="ko-KR" altLang="en-US" sz="1100" dirty="0"/>
              <a:t>🏁 </a:t>
            </a:r>
            <a:r>
              <a:rPr lang="en-US" altLang="ko-KR" sz="1100" dirty="0"/>
              <a:t>__</a:t>
            </a:r>
            <a:r>
              <a:rPr lang="en" sz="1100" dirty="0"/>
              <a:t>start__ : </a:t>
            </a:r>
            <a:r>
              <a:rPr lang="ko-KR" altLang="en-US" sz="1100" dirty="0"/>
              <a:t>사용자 입력 수신</a:t>
            </a:r>
            <a:r>
              <a:rPr lang="en-US" altLang="ko-KR" sz="1100" dirty="0"/>
              <a:t>) 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endParaRPr lang="en-US" altLang="ko-KR" sz="1100"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--&gt; </a:t>
            </a:r>
            <a:r>
              <a:rPr lang="en" sz="1100" dirty="0" err="1"/>
              <a:t>intent_router</a:t>
            </a:r>
            <a:r>
              <a:rPr lang="en" sz="1100" dirty="0"/>
              <a:t>(</a:t>
            </a:r>
            <a:r>
              <a:rPr lang="ko-KR" altLang="en-US" sz="1100" dirty="0"/>
              <a:t>🔀 </a:t>
            </a:r>
            <a:r>
              <a:rPr lang="en" sz="1100" dirty="0" err="1"/>
              <a:t>intent_router</a:t>
            </a:r>
            <a:r>
              <a:rPr lang="en" sz="1100" dirty="0"/>
              <a:t> : </a:t>
            </a:r>
            <a:r>
              <a:rPr lang="ko-KR" altLang="en-US" sz="1100" dirty="0"/>
              <a:t>의도 분류</a:t>
            </a:r>
            <a:r>
              <a:rPr lang="en-US" altLang="ko-KR" sz="11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endParaRPr lang="en-US" altLang="ko-KR" sz="1100"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--&gt; </a:t>
            </a:r>
            <a:r>
              <a:rPr lang="en" altLang="ko-KR" sz="1100" dirty="0"/>
              <a:t>|</a:t>
            </a:r>
            <a:r>
              <a:rPr lang="ko-KR" altLang="en-US" sz="1100" dirty="0"/>
              <a:t>운동 기록</a:t>
            </a:r>
            <a:r>
              <a:rPr lang="en-US" altLang="ko-KR" sz="1100" dirty="0"/>
              <a:t>| </a:t>
            </a:r>
            <a:r>
              <a:rPr lang="en" altLang="ko-KR" sz="1100" dirty="0" err="1"/>
              <a:t>exercise_handler</a:t>
            </a:r>
            <a:r>
              <a:rPr lang="en" altLang="ko-KR" sz="1100" dirty="0"/>
              <a:t>(</a:t>
            </a:r>
            <a:r>
              <a:rPr lang="ko-KR" altLang="en-US" sz="1100" dirty="0"/>
              <a:t>🏃 </a:t>
            </a:r>
            <a:r>
              <a:rPr lang="en" altLang="ko-KR" sz="1100" dirty="0" err="1"/>
              <a:t>exercise_handler</a:t>
            </a:r>
            <a:r>
              <a:rPr lang="en" altLang="ko-KR" sz="1100" dirty="0"/>
              <a:t> : METs </a:t>
            </a:r>
            <a:r>
              <a:rPr lang="ko-KR" altLang="en-US" sz="1100" dirty="0"/>
              <a:t>계산 도구</a:t>
            </a:r>
            <a:r>
              <a:rPr lang="en-US" altLang="ko-KR" sz="11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--&gt; </a:t>
            </a:r>
            <a:r>
              <a:rPr lang="en" sz="1100" dirty="0"/>
              <a:t>|</a:t>
            </a:r>
            <a:r>
              <a:rPr lang="ko-KR" altLang="en-US" sz="1100" dirty="0"/>
              <a:t>식단 질문</a:t>
            </a:r>
            <a:r>
              <a:rPr lang="en-US" altLang="ko-KR" sz="1100" dirty="0"/>
              <a:t>/</a:t>
            </a:r>
            <a:r>
              <a:rPr lang="ko-KR" altLang="en-US" sz="1100" dirty="0"/>
              <a:t>사진</a:t>
            </a:r>
            <a:r>
              <a:rPr lang="en-US" altLang="ko-KR" sz="1100" dirty="0"/>
              <a:t>| </a:t>
            </a:r>
            <a:r>
              <a:rPr lang="en" sz="1100" dirty="0" err="1"/>
              <a:t>food_handler</a:t>
            </a:r>
            <a:r>
              <a:rPr lang="en" sz="1100" dirty="0"/>
              <a:t>(</a:t>
            </a:r>
            <a:r>
              <a:rPr lang="ko-KR" altLang="en-US" sz="1100" dirty="0"/>
              <a:t>🍱 </a:t>
            </a:r>
            <a:r>
              <a:rPr lang="en" sz="1100" dirty="0" err="1"/>
              <a:t>food_handler</a:t>
            </a:r>
            <a:r>
              <a:rPr lang="en" sz="1100" dirty="0"/>
              <a:t> : </a:t>
            </a:r>
            <a:r>
              <a:rPr lang="ko-KR" altLang="en-US" sz="1100" dirty="0" err="1"/>
              <a:t>식약처</a:t>
            </a:r>
            <a:r>
              <a:rPr lang="ko-KR" altLang="en-US" sz="1100" dirty="0"/>
              <a:t> </a:t>
            </a:r>
            <a:r>
              <a:rPr lang="en" sz="1100" dirty="0"/>
              <a:t>DB </a:t>
            </a:r>
            <a:r>
              <a:rPr lang="ko-KR" altLang="en-US" sz="1100" dirty="0"/>
              <a:t>도구</a:t>
            </a:r>
            <a:r>
              <a:rPr lang="en-US" altLang="ko-KR" sz="11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altLang="ko-KR" sz="1100" dirty="0"/>
              <a:t>--&gt;|g</a:t>
            </a:r>
            <a:r>
              <a:rPr lang="ko-KR" altLang="en-US" sz="1100" dirty="0"/>
              <a:t>일상 대화</a:t>
            </a:r>
            <a:r>
              <a:rPr lang="en-US" altLang="ko-KR" sz="1100" dirty="0"/>
              <a:t>| </a:t>
            </a:r>
            <a:r>
              <a:rPr lang="en" altLang="ko-KR" sz="1100" dirty="0" err="1"/>
              <a:t>eneral_handler</a:t>
            </a:r>
            <a:r>
              <a:rPr lang="en" altLang="ko-KR" sz="1100" dirty="0"/>
              <a:t>(</a:t>
            </a:r>
            <a:r>
              <a:rPr lang="ko-KR" altLang="en-US" sz="1100" dirty="0"/>
              <a:t>💬 </a:t>
            </a:r>
            <a:r>
              <a:rPr lang="en" altLang="ko-KR" sz="1100" dirty="0" err="1"/>
              <a:t>general_handler</a:t>
            </a:r>
            <a:r>
              <a:rPr lang="en" altLang="ko-KR" sz="1100" dirty="0"/>
              <a:t> : </a:t>
            </a:r>
            <a:r>
              <a:rPr lang="ko-KR" altLang="en-US" sz="1100" dirty="0"/>
              <a:t>일반 코칭</a:t>
            </a:r>
            <a:r>
              <a:rPr lang="en-US" altLang="ko-KR" sz="11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--&gt; </a:t>
            </a:r>
            <a:r>
              <a:rPr lang="en" sz="1100" dirty="0"/>
              <a:t>|</a:t>
            </a:r>
            <a:r>
              <a:rPr lang="ko-KR" altLang="en-US" sz="1100" dirty="0"/>
              <a:t>다이어트 상식</a:t>
            </a:r>
            <a:r>
              <a:rPr lang="en-US" altLang="ko-KR" sz="1100" dirty="0"/>
              <a:t>| </a:t>
            </a:r>
            <a:r>
              <a:rPr lang="en" sz="1100" dirty="0" err="1"/>
              <a:t>rag_handler</a:t>
            </a:r>
            <a:r>
              <a:rPr lang="en" sz="1100" dirty="0"/>
              <a:t>(</a:t>
            </a:r>
            <a:r>
              <a:rPr lang="ko-KR" altLang="en-US" sz="1100" dirty="0"/>
              <a:t>📚 </a:t>
            </a:r>
            <a:r>
              <a:rPr lang="en" sz="1100" dirty="0" err="1"/>
              <a:t>rag_handler</a:t>
            </a:r>
            <a:r>
              <a:rPr lang="en" sz="1100" dirty="0"/>
              <a:t> : </a:t>
            </a:r>
            <a:r>
              <a:rPr lang="ko-KR" altLang="en-US" sz="1100" dirty="0"/>
              <a:t>영양 백과 </a:t>
            </a:r>
            <a:r>
              <a:rPr lang="en" sz="1100" dirty="0"/>
              <a:t>RAG)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    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--&gt; </a:t>
            </a:r>
            <a:r>
              <a:rPr lang="en" sz="1100" dirty="0" err="1"/>
              <a:t>self_rag_evaluator</a:t>
            </a:r>
            <a:r>
              <a:rPr lang="en" sz="1100" dirty="0"/>
              <a:t>(</a:t>
            </a:r>
            <a:r>
              <a:rPr lang="ko-KR" altLang="en-US" sz="1100" dirty="0"/>
              <a:t>🛡️ </a:t>
            </a:r>
            <a:r>
              <a:rPr lang="en" sz="1100" dirty="0" err="1"/>
              <a:t>self_rag_evaluator</a:t>
            </a:r>
            <a:r>
              <a:rPr lang="en" sz="1100" dirty="0"/>
              <a:t> : 3</a:t>
            </a:r>
            <a:r>
              <a:rPr lang="ko-KR" altLang="en-US" sz="1100" dirty="0"/>
              <a:t>단계 품질 검증</a:t>
            </a:r>
            <a:r>
              <a:rPr lang="en-US" altLang="ko-KR" sz="11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endParaRPr lang="en" sz="1100"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--&gt; </a:t>
            </a:r>
            <a:r>
              <a:rPr lang="en" sz="1100" dirty="0" err="1"/>
              <a:t>human_in_the_loop</a:t>
            </a:r>
            <a:r>
              <a:rPr lang="en" sz="1100" dirty="0"/>
              <a:t>(</a:t>
            </a:r>
            <a:r>
              <a:rPr lang="ko-KR" altLang="en-US" sz="1100" dirty="0"/>
              <a:t>👤 </a:t>
            </a:r>
            <a:r>
              <a:rPr lang="en" sz="1100" dirty="0" err="1"/>
              <a:t>human_in_the_loop</a:t>
            </a:r>
            <a:r>
              <a:rPr lang="en" sz="1100" dirty="0"/>
              <a:t> : </a:t>
            </a:r>
            <a:r>
              <a:rPr lang="ko-KR" altLang="en-US" sz="1100" dirty="0"/>
              <a:t>스마트 저장 </a:t>
            </a:r>
            <a:r>
              <a:rPr lang="ko-KR" altLang="en-US" sz="1100" dirty="0" err="1"/>
              <a:t>컨펌</a:t>
            </a:r>
            <a:r>
              <a:rPr lang="en-US" altLang="ko-KR" sz="11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endParaRPr lang="en" sz="1100"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--&gt; </a:t>
            </a:r>
            <a:r>
              <a:rPr lang="en" sz="1100" dirty="0"/>
              <a:t>__end__(</a:t>
            </a:r>
            <a:r>
              <a:rPr lang="ko-KR" altLang="en-US" sz="1100" dirty="0"/>
              <a:t>🏁 </a:t>
            </a:r>
            <a:r>
              <a:rPr lang="en-US" altLang="ko-KR" sz="1100" dirty="0"/>
              <a:t>__</a:t>
            </a:r>
            <a:r>
              <a:rPr lang="en" sz="1100" dirty="0"/>
              <a:t>end__ : DB </a:t>
            </a:r>
            <a:r>
              <a:rPr lang="ko-KR" altLang="en-US" sz="1100" dirty="0"/>
              <a:t>저장 </a:t>
            </a:r>
            <a:r>
              <a:rPr lang="en-US" altLang="ko-KR" sz="1100" dirty="0"/>
              <a:t>&amp; </a:t>
            </a:r>
            <a:r>
              <a:rPr lang="ko-KR" altLang="en-US" sz="1100" dirty="0"/>
              <a:t>대시보드 반영</a:t>
            </a:r>
            <a:r>
              <a:rPr lang="en-US" altLang="ko-KR" sz="1100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6C3CC3-5D1B-CB8D-8B27-08AB6C102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584792" cy="4710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C2925-C22F-C686-BA4D-3C4B2E88C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C971A1-5D26-5757-A407-115D2B76012A}"/>
              </a:ext>
            </a:extLst>
          </p:cNvPr>
          <p:cNvSpPr/>
          <p:nvPr/>
        </p:nvSpPr>
        <p:spPr>
          <a:xfrm>
            <a:off x="305" y="2770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34063-3D34-A07D-C46D-398C9F807640}"/>
              </a:ext>
            </a:extLst>
          </p:cNvPr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Function calling (</a:t>
            </a:r>
            <a:r>
              <a:rPr lang="ko-KR" altLang="en-US" dirty="0"/>
              <a:t>도구 호출</a:t>
            </a:r>
            <a:r>
              <a:rPr lang="en-US" altLang="ko-KR" dirty="0"/>
              <a:t>)</a:t>
            </a:r>
            <a:r>
              <a:rPr lang="ko-KR" altLang="en-US" dirty="0"/>
              <a:t>을 활용한 정형 데이터 </a:t>
            </a:r>
            <a:r>
              <a:rPr lang="en-US" altLang="ko-KR" dirty="0"/>
              <a:t>RAG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88D968-9DD5-CAA3-B2F1-B9AA9748114C}"/>
              </a:ext>
            </a:extLst>
          </p:cNvPr>
          <p:cNvSpPr/>
          <p:nvPr/>
        </p:nvSpPr>
        <p:spPr>
          <a:xfrm>
            <a:off x="7213600" y="1600200"/>
            <a:ext cx="4243832" cy="47103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D83932C-20B5-4CFA-68AC-900B389D7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58" y="2594895"/>
            <a:ext cx="6435309" cy="31328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73C7B33-2DD7-BE8F-5DE3-76C13849B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1417387"/>
            <a:ext cx="3944297" cy="10389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6E9BEC-5EBD-1116-E3B9-61652B7D3957}"/>
              </a:ext>
            </a:extLst>
          </p:cNvPr>
          <p:cNvSpPr txBox="1"/>
          <p:nvPr/>
        </p:nvSpPr>
        <p:spPr>
          <a:xfrm>
            <a:off x="7488239" y="2087064"/>
            <a:ext cx="359886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5</a:t>
            </a:r>
            <a:r>
              <a:rPr lang="en-US" altLang="ko-KR" sz="1100" i="1" dirty="0"/>
              <a:t>000+</a:t>
            </a:r>
            <a:r>
              <a:rPr lang="ko-KR" altLang="en-US" sz="1100" i="1" dirty="0"/>
              <a:t> </a:t>
            </a:r>
            <a:r>
              <a:rPr lang="ko-KR" altLang="en-US" sz="1100" dirty="0"/>
              <a:t>공공데이터 사용 </a:t>
            </a:r>
            <a:r>
              <a:rPr lang="en-US" altLang="ko-KR" sz="1100" dirty="0"/>
              <a:t>(https://</a:t>
            </a:r>
            <a:r>
              <a:rPr lang="en-US" altLang="ko-KR" sz="1100" dirty="0" err="1"/>
              <a:t>www.data.go.kr</a:t>
            </a:r>
            <a:r>
              <a:rPr lang="en-US" altLang="ko-KR" sz="1100" dirty="0"/>
              <a:t>/)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ko-KR" altLang="en-US" sz="1100" dirty="0"/>
              <a:t>음식을 입력 또는 사진을 업로드했을 때 성분 정보가 도출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94757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B096-DFA6-7F5C-5945-2C1C19AA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5080BB-2ADB-8BEB-922F-046C7BC169CE}"/>
              </a:ext>
            </a:extLst>
          </p:cNvPr>
          <p:cNvSpPr/>
          <p:nvPr/>
        </p:nvSpPr>
        <p:spPr>
          <a:xfrm>
            <a:off x="305" y="2770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930AA-D474-E42E-7BB6-C6D2E20F9865}"/>
              </a:ext>
            </a:extLst>
          </p:cNvPr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Function calling (</a:t>
            </a:r>
            <a:r>
              <a:rPr lang="ko-KR" altLang="en-US" dirty="0"/>
              <a:t>도구 호출</a:t>
            </a:r>
            <a:r>
              <a:rPr lang="en-US" altLang="ko-KR" dirty="0"/>
              <a:t>)</a:t>
            </a:r>
            <a:r>
              <a:rPr lang="ko-KR" altLang="en-US" dirty="0"/>
              <a:t>을 활용한 정형 데이터 </a:t>
            </a:r>
            <a:r>
              <a:rPr lang="en-US" altLang="ko-KR" dirty="0"/>
              <a:t>RAG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635FC0-FBB5-CAED-8EE2-C3B1AA1E5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64874"/>
            <a:ext cx="4986234" cy="470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66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9386D-DB53-AB6E-8EFD-CFC5EE7C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3AF192-608C-09B8-99F9-CDA6F6CD9FEA}"/>
              </a:ext>
            </a:extLst>
          </p:cNvPr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Exercise handler – Function calling (</a:t>
            </a:r>
            <a:r>
              <a:rPr lang="ko-KR" altLang="en-US" dirty="0"/>
              <a:t>도구 호출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296E62-3DD8-919A-3735-A5273AB5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5"/>
          <a:stretch>
            <a:fillRect/>
          </a:stretch>
        </p:blipFill>
        <p:spPr>
          <a:xfrm>
            <a:off x="731520" y="1417320"/>
            <a:ext cx="4634807" cy="42492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748F54-8B77-4146-9410-AD8566648E86}"/>
              </a:ext>
            </a:extLst>
          </p:cNvPr>
          <p:cNvSpPr txBox="1"/>
          <p:nvPr/>
        </p:nvSpPr>
        <p:spPr>
          <a:xfrm>
            <a:off x="5529823" y="5718144"/>
            <a:ext cx="449911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ko-KR" altLang="en-US" sz="1100" dirty="0"/>
              <a:t>* 운동정보가 없는 경우 학습된 </a:t>
            </a:r>
            <a:r>
              <a:rPr lang="en-US" altLang="ko-KR" sz="1100" dirty="0" err="1"/>
              <a:t>llm</a:t>
            </a:r>
            <a:r>
              <a:rPr lang="en-US" altLang="ko-KR" sz="1100" dirty="0"/>
              <a:t>(</a:t>
            </a:r>
            <a:r>
              <a:rPr lang="ko-KR" altLang="en-US" sz="1100" dirty="0"/>
              <a:t>제미나이</a:t>
            </a:r>
            <a:r>
              <a:rPr lang="en-US" altLang="ko-KR" sz="1100" dirty="0"/>
              <a:t>)</a:t>
            </a:r>
            <a:r>
              <a:rPr lang="ko-KR" altLang="en-US" sz="1100" dirty="0"/>
              <a:t> 자체 추정을 통해 </a:t>
            </a:r>
            <a:endParaRPr lang="en-US" altLang="ko-KR" sz="1100"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100" dirty="0"/>
              <a:t>METs</a:t>
            </a:r>
            <a:r>
              <a:rPr lang="ko-KR" altLang="en-US" sz="1100" dirty="0"/>
              <a:t> 계산하도록 설정</a:t>
            </a:r>
            <a:endParaRPr lang="en-US" altLang="ko-KR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A315800-2B94-054E-3823-71705B953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823" y="1397355"/>
            <a:ext cx="6052461" cy="406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80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05BB7-755A-12E6-805D-F16DB8C0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58B9D9-213B-7AC0-8C8D-A188BB4C5D21}"/>
              </a:ext>
            </a:extLst>
          </p:cNvPr>
          <p:cNvSpPr/>
          <p:nvPr/>
        </p:nvSpPr>
        <p:spPr>
          <a:xfrm>
            <a:off x="305" y="2770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endParaRPr dirty="0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EB80633F-A144-286C-66EC-B0B8F464A808}"/>
              </a:ext>
            </a:extLst>
          </p:cNvPr>
          <p:cNvSpPr/>
          <p:nvPr/>
        </p:nvSpPr>
        <p:spPr>
          <a:xfrm>
            <a:off x="6968691" y="1591733"/>
            <a:ext cx="4770917" cy="355778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D8ABF-49CA-14FE-C5D6-F7D0A44B47ED}"/>
              </a:ext>
            </a:extLst>
          </p:cNvPr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Exercise handler – Function calling (</a:t>
            </a:r>
            <a:r>
              <a:rPr lang="ko-KR" altLang="en-US" dirty="0"/>
              <a:t>도구 호출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29B8427-F649-A610-7D39-EB8D29FBF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91733"/>
            <a:ext cx="6066956" cy="35577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D0412F-BD7C-0CE4-5BAC-3BDD35BFDF29}"/>
              </a:ext>
            </a:extLst>
          </p:cNvPr>
          <p:cNvSpPr txBox="1"/>
          <p:nvPr/>
        </p:nvSpPr>
        <p:spPr>
          <a:xfrm>
            <a:off x="7250867" y="2000442"/>
            <a:ext cx="4488741" cy="1401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altLang="ko-KR" sz="1200" dirty="0"/>
              <a:t>•  ACSM </a:t>
            </a:r>
            <a:r>
              <a:rPr lang="ko-KR" altLang="en-US" sz="1200" dirty="0"/>
              <a:t>공식</a:t>
            </a:r>
            <a:r>
              <a:rPr lang="en-US" altLang="ko-KR" sz="1200" dirty="0"/>
              <a:t>: `</a:t>
            </a:r>
            <a:r>
              <a:rPr lang="ko-KR" altLang="en-US" sz="1200" dirty="0"/>
              <a:t>소모 칼로리 </a:t>
            </a:r>
            <a:r>
              <a:rPr lang="en-US" altLang="ko-KR" sz="1200" dirty="0"/>
              <a:t>= 1.05 × </a:t>
            </a:r>
            <a:r>
              <a:rPr lang="en" altLang="ko-KR" sz="1200" dirty="0"/>
              <a:t>METs × </a:t>
            </a:r>
            <a:r>
              <a:rPr lang="ko-KR" altLang="en-US" sz="1200" dirty="0"/>
              <a:t>체중</a:t>
            </a:r>
            <a:r>
              <a:rPr lang="en-US" altLang="ko-KR" sz="1200" dirty="0"/>
              <a:t>(</a:t>
            </a:r>
            <a:r>
              <a:rPr lang="en" altLang="ko-KR" sz="1200" dirty="0"/>
              <a:t>kg) × </a:t>
            </a:r>
            <a:r>
              <a:rPr lang="ko-KR" altLang="en-US" sz="1200" dirty="0"/>
              <a:t>시간</a:t>
            </a:r>
            <a:r>
              <a:rPr lang="en-US" altLang="ko-KR" sz="1200" dirty="0"/>
              <a:t>(</a:t>
            </a:r>
            <a:r>
              <a:rPr lang="en" altLang="ko-KR" sz="1200" dirty="0" err="1"/>
              <a:t>hr</a:t>
            </a:r>
            <a:r>
              <a:rPr lang="en" altLang="ko-KR" sz="1200" dirty="0"/>
              <a:t>)`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altLang="ko-KR" sz="1200" dirty="0"/>
              <a:t>•  20+ </a:t>
            </a:r>
            <a:r>
              <a:rPr lang="ko-KR" altLang="en-US" sz="1200" dirty="0"/>
              <a:t>운동 계수 </a:t>
            </a:r>
            <a:r>
              <a:rPr lang="en" altLang="ko-KR" sz="1200" dirty="0"/>
              <a:t>DB: </a:t>
            </a:r>
            <a:r>
              <a:rPr lang="ko-KR" altLang="en-US" sz="1200" dirty="0"/>
              <a:t>러닝</a:t>
            </a:r>
            <a:r>
              <a:rPr lang="en-US" altLang="ko-KR" sz="1200" dirty="0"/>
              <a:t>(8.5), </a:t>
            </a:r>
            <a:r>
              <a:rPr lang="ko-KR" altLang="en-US" sz="1200" dirty="0"/>
              <a:t>웨이트</a:t>
            </a:r>
            <a:r>
              <a:rPr lang="en-US" altLang="ko-KR" sz="1200" dirty="0"/>
              <a:t>(5.5), </a:t>
            </a:r>
            <a:r>
              <a:rPr lang="ko-KR" altLang="en-US" sz="1200" dirty="0"/>
              <a:t>수영</a:t>
            </a:r>
            <a:r>
              <a:rPr lang="en-US" altLang="ko-KR" sz="1200" dirty="0"/>
              <a:t>(7.0), </a:t>
            </a:r>
            <a:r>
              <a:rPr lang="ko-KR" altLang="en-US" sz="1200" dirty="0"/>
              <a:t>줄넘기</a:t>
            </a:r>
            <a:r>
              <a:rPr lang="en-US" altLang="ko-KR" sz="1200" dirty="0"/>
              <a:t>(10.0)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200" dirty="0"/>
              <a:t>•  </a:t>
            </a:r>
            <a:r>
              <a:rPr lang="ko-KR" altLang="en-US" sz="1200" dirty="0"/>
              <a:t>체중 연동</a:t>
            </a:r>
            <a:r>
              <a:rPr lang="en-US" altLang="ko-KR" sz="1200" dirty="0"/>
              <a:t>: </a:t>
            </a:r>
            <a:r>
              <a:rPr lang="ko-KR" altLang="en-US" sz="1200" dirty="0"/>
              <a:t>사용자별 체중</a:t>
            </a:r>
            <a:r>
              <a:rPr lang="en-US" altLang="ko-KR" sz="1200" dirty="0"/>
              <a:t>(</a:t>
            </a:r>
            <a:r>
              <a:rPr lang="en" altLang="ko-KR" sz="1200" dirty="0"/>
              <a:t>kg) </a:t>
            </a:r>
            <a:r>
              <a:rPr lang="ko-KR" altLang="en-US" sz="1200" dirty="0"/>
              <a:t>자동 반영 맞춤 계산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200" dirty="0"/>
              <a:t>•  </a:t>
            </a:r>
            <a:r>
              <a:rPr lang="ko-KR" altLang="en-US" sz="1200" dirty="0"/>
              <a:t>순 칼로리</a:t>
            </a:r>
            <a:r>
              <a:rPr lang="en-US" altLang="ko-KR" sz="1200" dirty="0"/>
              <a:t>(</a:t>
            </a:r>
            <a:r>
              <a:rPr lang="en" altLang="ko-KR" sz="1200" dirty="0"/>
              <a:t>Net Calories) </a:t>
            </a:r>
            <a:r>
              <a:rPr lang="ko-KR" altLang="en-US" sz="1200" dirty="0"/>
              <a:t>연동</a:t>
            </a:r>
            <a:r>
              <a:rPr lang="en-US" altLang="ko-KR" sz="1200" dirty="0"/>
              <a:t>: </a:t>
            </a:r>
            <a:r>
              <a:rPr lang="ko-KR" altLang="en-US" sz="1200" dirty="0"/>
              <a:t>섭취량 </a:t>
            </a:r>
            <a:r>
              <a:rPr lang="en-US" altLang="ko-KR" sz="1200" dirty="0"/>
              <a:t>- </a:t>
            </a:r>
            <a:r>
              <a:rPr lang="ko-KR" altLang="en-US" sz="1200" dirty="0"/>
              <a:t>운동 소모량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087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E3AC-E8FB-968B-D0C6-F65E91C12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4831F-D0BC-2087-918D-28C32BC4EB8E}"/>
              </a:ext>
            </a:extLst>
          </p:cNvPr>
          <p:cNvSpPr/>
          <p:nvPr/>
        </p:nvSpPr>
        <p:spPr>
          <a:xfrm>
            <a:off x="305" y="3278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6D5423-D814-0BBB-B062-807D67F13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2024704"/>
            <a:ext cx="5133510" cy="357599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73B29F0-76FA-A9EE-CA55-07EBD1807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271" y="2024704"/>
            <a:ext cx="6080209" cy="34732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6CD3746-0707-CFB4-B594-33C4EAEA6405}"/>
              </a:ext>
            </a:extLst>
          </p:cNvPr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lang="ko-KR" altLang="ko-KR" sz="2200" b="1" dirty="0">
                <a:solidFill>
                  <a:srgbClr val="0F172A"/>
                </a:solidFill>
                <a:latin typeface="Pretendard"/>
              </a:rPr>
              <a:t>검증된 RAG 지식 문서</a:t>
            </a:r>
            <a:r>
              <a:rPr lang="ko-KR" altLang="ko-KR" sz="2200" dirty="0">
                <a:solidFill>
                  <a:srgbClr val="0F172A"/>
                </a:solidFill>
                <a:latin typeface="Pretendard"/>
              </a:rPr>
              <a:t> 인용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8660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D1726-E07C-A03B-D2A1-8C818C23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ADB665-EC97-FBD1-99BE-A4AA586B8A0A}"/>
              </a:ext>
            </a:extLst>
          </p:cNvPr>
          <p:cNvSpPr/>
          <p:nvPr/>
        </p:nvSpPr>
        <p:spPr>
          <a:xfrm>
            <a:off x="305" y="3278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E6F0EC01-E1B9-82A8-4521-E152DAFB057F}"/>
              </a:ext>
            </a:extLst>
          </p:cNvPr>
          <p:cNvSpPr/>
          <p:nvPr/>
        </p:nvSpPr>
        <p:spPr>
          <a:xfrm>
            <a:off x="6414295" y="1639112"/>
            <a:ext cx="5230368" cy="371520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8A673-C5BC-9900-6D32-AB19B745C49D}"/>
              </a:ext>
            </a:extLst>
          </p:cNvPr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lang="ko-KR" altLang="ko-KR" sz="2200" b="1" dirty="0">
                <a:solidFill>
                  <a:srgbClr val="0F172A"/>
                </a:solidFill>
                <a:latin typeface="Pretendard"/>
              </a:rPr>
              <a:t>검증된 RAG 지식 문서</a:t>
            </a:r>
            <a:r>
              <a:rPr lang="ko-KR" altLang="ko-KR" sz="2200" dirty="0">
                <a:solidFill>
                  <a:srgbClr val="0F172A"/>
                </a:solidFill>
                <a:latin typeface="Pretendard"/>
              </a:rPr>
              <a:t> 인용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62C3AA-37A7-54E0-E70E-ADDDD4F46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1" y="1639113"/>
            <a:ext cx="5550010" cy="26345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09AB48-60B5-0E8D-05EF-BDC8076C3696}"/>
              </a:ext>
            </a:extLst>
          </p:cNvPr>
          <p:cNvSpPr txBox="1"/>
          <p:nvPr/>
        </p:nvSpPr>
        <p:spPr>
          <a:xfrm>
            <a:off x="6598477" y="1792568"/>
            <a:ext cx="4488741" cy="337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altLang="ko-KR" sz="1200" b="1" dirty="0"/>
              <a:t>•  D</a:t>
            </a:r>
            <a:r>
              <a:rPr lang="en-US" altLang="ko-KR" sz="1200" b="1" dirty="0"/>
              <a:t>B,</a:t>
            </a:r>
            <a:r>
              <a:rPr lang="ko-KR" altLang="en-US" sz="1200" b="1" dirty="0"/>
              <a:t> 국내외 </a:t>
            </a:r>
            <a:r>
              <a:rPr lang="en-US" altLang="ko-KR" sz="1200" b="1" dirty="0"/>
              <a:t>4</a:t>
            </a:r>
            <a:r>
              <a:rPr lang="ko-KR" altLang="en-US" sz="1200" b="1" dirty="0"/>
              <a:t>대 공인 임상 영양학회 및 보건기관의 표준 가이드라인을 활용하여 구축</a:t>
            </a:r>
            <a:endParaRPr lang="en-US" altLang="ko-KR" sz="1200"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200" dirty="0"/>
              <a:t>	-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대한당뇨병학회</a:t>
            </a:r>
            <a:r>
              <a:rPr lang="ko-KR" altLang="en-US" sz="1200" dirty="0"/>
              <a:t> </a:t>
            </a:r>
            <a:r>
              <a:rPr lang="en-US" altLang="ko-KR" sz="1200" dirty="0"/>
              <a:t>&amp;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미국당뇨병협회</a:t>
            </a:r>
            <a:endParaRPr lang="en-US" altLang="ko-KR" sz="1200"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200" dirty="0"/>
              <a:t>	-</a:t>
            </a:r>
            <a:r>
              <a:rPr lang="ko-KR" altLang="en-US" sz="1200" dirty="0"/>
              <a:t> 국제스포츠영양학회</a:t>
            </a:r>
            <a:endParaRPr lang="en-US" altLang="ko-KR" sz="1200"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200" dirty="0"/>
              <a:t>	-</a:t>
            </a:r>
            <a:r>
              <a:rPr lang="ko-KR" altLang="en-US" sz="1200" dirty="0"/>
              <a:t> 대한비만학회</a:t>
            </a:r>
            <a:endParaRPr lang="en-US" altLang="ko-KR" sz="1200"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200" dirty="0"/>
              <a:t>	-</a:t>
            </a:r>
            <a:r>
              <a:rPr lang="ko-KR" altLang="en-US" sz="1200" dirty="0"/>
              <a:t> 보건복지부</a:t>
            </a:r>
            <a:r>
              <a:rPr lang="en-US" altLang="ko-KR" sz="1200" dirty="0"/>
              <a:t>,</a:t>
            </a:r>
            <a:r>
              <a:rPr lang="ko-KR" altLang="en-US" sz="1200" dirty="0"/>
              <a:t> 한국영양학회</a:t>
            </a:r>
            <a:endParaRPr lang="en-US" altLang="ko-KR" sz="1200"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sz="1200" dirty="0"/>
              <a:t>	-</a:t>
            </a:r>
            <a:r>
              <a:rPr lang="ko-KR" altLang="en-US" sz="1200" dirty="0"/>
              <a:t> 식품의약품안전처</a:t>
            </a:r>
            <a:endParaRPr lang="en-US" altLang="ko-KR" sz="1200"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endParaRPr lang="en" altLang="ko-KR" sz="1200"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altLang="ko-KR" sz="1200" b="1" dirty="0"/>
              <a:t>•  </a:t>
            </a:r>
            <a:r>
              <a:rPr lang="en-US" altLang="ko-KR" sz="1200" b="1" dirty="0"/>
              <a:t>DB</a:t>
            </a:r>
            <a:r>
              <a:rPr lang="ko-KR" altLang="en-US" sz="1200" b="1" dirty="0" err="1"/>
              <a:t>에</a:t>
            </a:r>
            <a:r>
              <a:rPr lang="ko-KR" altLang="en-US" sz="1200" b="1" dirty="0"/>
              <a:t> 없는 질문 </a:t>
            </a:r>
            <a:r>
              <a:rPr lang="en-US" altLang="ko-KR" sz="1200" b="1" dirty="0"/>
              <a:t>: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Gemini </a:t>
            </a:r>
            <a:r>
              <a:rPr lang="ko-KR" altLang="en-US" sz="1200" b="1" dirty="0"/>
              <a:t>자체 지능 </a:t>
            </a:r>
            <a:r>
              <a:rPr lang="en-US" altLang="ko-KR" sz="1200" b="1" dirty="0"/>
              <a:t>+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Self-RAG</a:t>
            </a:r>
            <a:r>
              <a:rPr lang="ko-KR" altLang="en-US" sz="1200" b="1" dirty="0"/>
              <a:t> 검증으로 답변 생성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91627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98383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9] Self-RAG 3단계 품질 게이트 (LLM-as-a-Judge)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관련성(Relevance) ➔ 환각 검출(Grounding) ➔ 임상 안전성(Safety) 3중 검증 실측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5372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dirty="0"/>
              <a:t>🛡️ 3단계 </a:t>
            </a:r>
            <a:r>
              <a:rPr dirty="0" err="1"/>
              <a:t>이진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Gate 1. </a:t>
            </a:r>
            <a:r>
              <a:rPr dirty="0" err="1"/>
              <a:t>영양</a:t>
            </a:r>
            <a:r>
              <a:rPr dirty="0"/>
              <a:t> </a:t>
            </a:r>
            <a:r>
              <a:rPr dirty="0" err="1"/>
              <a:t>관련성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(Relevance Check):</a:t>
            </a:r>
            <a:br>
              <a:rPr dirty="0"/>
            </a:br>
            <a:r>
              <a:rPr dirty="0"/>
              <a:t>  </a:t>
            </a:r>
            <a:r>
              <a:rPr lang="ko-KR" altLang="en-US" dirty="0"/>
              <a:t>  </a:t>
            </a:r>
            <a:r>
              <a:rPr dirty="0"/>
              <a:t>•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식단</a:t>
            </a:r>
            <a:r>
              <a:rPr dirty="0"/>
              <a:t> ↔ DB </a:t>
            </a:r>
            <a:r>
              <a:rPr dirty="0" err="1"/>
              <a:t>조회</a:t>
            </a:r>
            <a:r>
              <a:rPr dirty="0"/>
              <a:t> </a:t>
            </a:r>
            <a:r>
              <a:rPr dirty="0" err="1"/>
              <a:t>식품</a:t>
            </a:r>
            <a:r>
              <a:rPr dirty="0"/>
              <a:t> </a:t>
            </a:r>
            <a:r>
              <a:rPr dirty="0" err="1"/>
              <a:t>일치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판정</a:t>
            </a:r>
            <a:r>
              <a:rPr dirty="0"/>
              <a:t> (Yes/No)</a:t>
            </a:r>
            <a:br>
              <a:rPr dirty="0"/>
            </a:br>
            <a:r>
              <a:rPr dirty="0"/>
              <a:t>  </a:t>
            </a:r>
            <a:r>
              <a:rPr lang="ko-KR" altLang="en-US" dirty="0"/>
              <a:t>  </a:t>
            </a:r>
            <a:r>
              <a:rPr dirty="0"/>
              <a:t>• </a:t>
            </a:r>
            <a:r>
              <a:rPr dirty="0" err="1"/>
              <a:t>불일치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쿼리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재작성</a:t>
            </a:r>
            <a:r>
              <a:rPr dirty="0"/>
              <a:t> (CRAG </a:t>
            </a:r>
            <a:r>
              <a:rPr dirty="0" err="1"/>
              <a:t>보정</a:t>
            </a:r>
            <a:r>
              <a:rPr dirty="0"/>
              <a:t>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Gate 2. </a:t>
            </a:r>
            <a:r>
              <a:rPr dirty="0" err="1"/>
              <a:t>환각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검출</a:t>
            </a:r>
            <a:r>
              <a:rPr dirty="0"/>
              <a:t> (Hallucination Grounding):</a:t>
            </a:r>
            <a:br>
              <a:rPr dirty="0"/>
            </a:br>
            <a:r>
              <a:rPr dirty="0"/>
              <a:t>  </a:t>
            </a:r>
            <a:r>
              <a:rPr lang="ko-KR" altLang="en-US" dirty="0"/>
              <a:t>  </a:t>
            </a:r>
            <a:r>
              <a:rPr dirty="0"/>
              <a:t>• </a:t>
            </a:r>
            <a:r>
              <a:rPr dirty="0" err="1"/>
              <a:t>칼로리</a:t>
            </a:r>
            <a:r>
              <a:rPr dirty="0"/>
              <a:t>/</a:t>
            </a:r>
            <a:r>
              <a:rPr dirty="0" err="1"/>
              <a:t>탄단지</a:t>
            </a:r>
            <a:r>
              <a:rPr dirty="0"/>
              <a:t> </a:t>
            </a:r>
            <a:r>
              <a:rPr dirty="0" err="1"/>
              <a:t>수치와</a:t>
            </a:r>
            <a:r>
              <a:rPr dirty="0"/>
              <a:t> DB </a:t>
            </a:r>
            <a:r>
              <a:rPr dirty="0" err="1"/>
              <a:t>실측치</a:t>
            </a:r>
            <a:r>
              <a:rPr dirty="0"/>
              <a:t> 100% </a:t>
            </a:r>
            <a:r>
              <a:rPr dirty="0" err="1"/>
              <a:t>일치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Gate 3. </a:t>
            </a:r>
            <a:r>
              <a:rPr dirty="0" err="1"/>
              <a:t>임상</a:t>
            </a:r>
            <a:r>
              <a:rPr dirty="0"/>
              <a:t>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가드레일</a:t>
            </a:r>
            <a:r>
              <a:rPr dirty="0"/>
              <a:t> (Clinical Safety):</a:t>
            </a:r>
            <a:br>
              <a:rPr dirty="0"/>
            </a:br>
            <a:r>
              <a:rPr dirty="0"/>
              <a:t>  </a:t>
            </a:r>
            <a:r>
              <a:rPr lang="ko-KR" altLang="en-US" dirty="0"/>
              <a:t>  </a:t>
            </a:r>
            <a:r>
              <a:rPr dirty="0"/>
              <a:t>• </a:t>
            </a:r>
            <a:r>
              <a:rPr dirty="0" err="1"/>
              <a:t>초저열량</a:t>
            </a:r>
            <a:r>
              <a:rPr dirty="0"/>
              <a:t> </a:t>
            </a:r>
            <a:r>
              <a:rPr dirty="0" err="1"/>
              <a:t>경고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의학적</a:t>
            </a:r>
            <a:r>
              <a:rPr dirty="0"/>
              <a:t> </a:t>
            </a:r>
            <a:r>
              <a:rPr dirty="0" err="1"/>
              <a:t>면책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삽입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dirty="0"/>
              <a:t>💡 </a:t>
            </a:r>
            <a:r>
              <a:rPr dirty="0" err="1"/>
              <a:t>철저한</a:t>
            </a:r>
            <a:r>
              <a:rPr dirty="0"/>
              <a:t> </a:t>
            </a:r>
            <a:r>
              <a:rPr dirty="0" err="1"/>
              <a:t>환각</a:t>
            </a:r>
            <a:r>
              <a:rPr dirty="0"/>
              <a:t> </a:t>
            </a:r>
            <a:r>
              <a:rPr dirty="0" err="1"/>
              <a:t>통제</a:t>
            </a:r>
            <a:r>
              <a:rPr dirty="0"/>
              <a:t> (Zero-Hallucination Verified)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rPr dirty="0"/>
              <a:t>LLM-as-a-Judge </a:t>
            </a:r>
            <a:r>
              <a:rPr dirty="0" err="1"/>
              <a:t>평가를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관련성</a:t>
            </a:r>
            <a:r>
              <a:rPr dirty="0"/>
              <a:t>, </a:t>
            </a:r>
            <a:r>
              <a:rPr dirty="0" err="1"/>
              <a:t>사실</a:t>
            </a:r>
            <a:r>
              <a:rPr dirty="0"/>
              <a:t> </a:t>
            </a:r>
            <a:r>
              <a:rPr dirty="0" err="1"/>
              <a:t>근거성</a:t>
            </a:r>
            <a:r>
              <a:rPr dirty="0"/>
              <a:t>, </a:t>
            </a:r>
            <a:r>
              <a:rPr dirty="0" err="1"/>
              <a:t>임상</a:t>
            </a:r>
            <a:r>
              <a:rPr dirty="0"/>
              <a:t> </a:t>
            </a:r>
            <a:r>
              <a:rPr dirty="0" err="1"/>
              <a:t>안전성을</a:t>
            </a:r>
            <a:r>
              <a:rPr dirty="0"/>
              <a:t> 3중 </a:t>
            </a:r>
            <a:r>
              <a:rPr dirty="0" err="1"/>
              <a:t>검증하여</a:t>
            </a:r>
            <a:r>
              <a:rPr dirty="0"/>
              <a:t> </a:t>
            </a:r>
            <a:r>
              <a:rPr dirty="0" err="1"/>
              <a:t>안전한</a:t>
            </a:r>
            <a:r>
              <a:rPr dirty="0"/>
              <a:t> </a:t>
            </a:r>
            <a:r>
              <a:rPr dirty="0" err="1"/>
              <a:t>답변만</a:t>
            </a:r>
            <a:r>
              <a:rPr dirty="0"/>
              <a:t> </a:t>
            </a:r>
            <a:r>
              <a:rPr dirty="0" err="1"/>
              <a:t>제공합니다</a:t>
            </a:r>
            <a:r>
              <a:rPr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107C64-CF97-26C2-147B-CAA830505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1" y="1819656"/>
            <a:ext cx="5439776" cy="22037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DB26F-6612-90FC-1BC4-622AB7642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01F338-FFB8-ABB8-614D-7915B7760CC0}"/>
              </a:ext>
            </a:extLst>
          </p:cNvPr>
          <p:cNvSpPr/>
          <p:nvPr/>
        </p:nvSpPr>
        <p:spPr>
          <a:xfrm>
            <a:off x="305" y="298383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18950-C610-7C36-93B2-8DF489B91FC9}"/>
              </a:ext>
            </a:extLst>
          </p:cNvPr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F111A-B7DF-B5D9-CF1F-E30B465C7E53}"/>
              </a:ext>
            </a:extLst>
          </p:cNvPr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9] Self-RAG 3단계 품질 게이트 (LLM-as-a-Judge)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C8EFA-5027-D101-60BD-8B10B07ADE0E}"/>
              </a:ext>
            </a:extLst>
          </p:cNvPr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관련성(Relevance) ➔ 환각 검출(Grounding) ➔ 임상 안전성(Safety) 3중 검증 실측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BCD05B-0EF8-587C-A63C-7B9D4C00F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54807"/>
            <a:ext cx="5274644" cy="2401049"/>
          </a:xfrm>
          <a:prstGeom prst="rect">
            <a:avLst/>
          </a:prstGeom>
        </p:spPr>
      </p:pic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40D09BD8-FA23-01BE-31B1-A929505712DF}"/>
              </a:ext>
            </a:extLst>
          </p:cNvPr>
          <p:cNvSpPr/>
          <p:nvPr/>
        </p:nvSpPr>
        <p:spPr>
          <a:xfrm>
            <a:off x="6227064" y="2002972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10471A-D7EA-E46E-469E-AA884E60E08E}"/>
              </a:ext>
            </a:extLst>
          </p:cNvPr>
          <p:cNvSpPr txBox="1"/>
          <p:nvPr/>
        </p:nvSpPr>
        <p:spPr>
          <a:xfrm>
            <a:off x="6483096" y="2222428"/>
            <a:ext cx="4718304" cy="157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200000"/>
              </a:lnSpc>
              <a:spcAft>
                <a:spcPts val="600"/>
              </a:spcAft>
              <a:buFontTx/>
              <a:buChar char="-"/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altLang="ko-KR" sz="1200" dirty="0">
                <a:solidFill>
                  <a:srgbClr val="334155"/>
                </a:solidFill>
                <a:latin typeface="Pretendard"/>
              </a:rPr>
              <a:t>AI</a:t>
            </a:r>
            <a:r>
              <a:rPr lang="ko-KR" altLang="en-US" sz="1200" dirty="0">
                <a:solidFill>
                  <a:srgbClr val="334155"/>
                </a:solidFill>
                <a:latin typeface="Pretendard"/>
              </a:rPr>
              <a:t>가 엉뚱한 음식을 가져오거나</a:t>
            </a:r>
            <a:r>
              <a:rPr lang="en-US" altLang="ko-KR" sz="1200" dirty="0">
                <a:solidFill>
                  <a:srgbClr val="334155"/>
                </a:solidFill>
                <a:latin typeface="Pretendard"/>
              </a:rPr>
              <a:t>(</a:t>
            </a:r>
            <a:r>
              <a:rPr lang="en" altLang="ko-KR" sz="1200" dirty="0">
                <a:solidFill>
                  <a:srgbClr val="334155"/>
                </a:solidFill>
                <a:latin typeface="Pretendard"/>
              </a:rPr>
              <a:t>Gate 1), </a:t>
            </a:r>
          </a:p>
          <a:p>
            <a:pPr marL="171450" indent="-171450">
              <a:lnSpc>
                <a:spcPct val="200000"/>
              </a:lnSpc>
              <a:spcAft>
                <a:spcPts val="600"/>
              </a:spcAft>
              <a:buFontTx/>
              <a:buChar char="-"/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ko-KR" altLang="en-US" sz="1200" dirty="0">
                <a:solidFill>
                  <a:srgbClr val="334155"/>
                </a:solidFill>
                <a:latin typeface="Pretendard"/>
              </a:rPr>
              <a:t>숫자를 맘대로 지어내거나</a:t>
            </a:r>
            <a:r>
              <a:rPr lang="en-US" altLang="ko-KR" sz="1200" dirty="0">
                <a:solidFill>
                  <a:srgbClr val="334155"/>
                </a:solidFill>
                <a:latin typeface="Pretendard"/>
              </a:rPr>
              <a:t>(</a:t>
            </a:r>
            <a:r>
              <a:rPr lang="en" altLang="ko-KR" sz="1200" dirty="0">
                <a:solidFill>
                  <a:srgbClr val="334155"/>
                </a:solidFill>
                <a:latin typeface="Pretendard"/>
              </a:rPr>
              <a:t>Gate 2),</a:t>
            </a:r>
          </a:p>
          <a:p>
            <a:pPr marL="171450" indent="-171450">
              <a:lnSpc>
                <a:spcPct val="200000"/>
              </a:lnSpc>
              <a:spcAft>
                <a:spcPts val="600"/>
              </a:spcAft>
              <a:buFontTx/>
              <a:buChar char="-"/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ko-KR" altLang="en-US" sz="1200" dirty="0">
                <a:solidFill>
                  <a:srgbClr val="334155"/>
                </a:solidFill>
                <a:latin typeface="Pretendard"/>
              </a:rPr>
              <a:t>사용자가 거식증에 걸릴 정도로 굶는 식단을 말했을 때</a:t>
            </a:r>
            <a:r>
              <a:rPr lang="en-US" altLang="ko-KR" sz="1200" dirty="0">
                <a:solidFill>
                  <a:srgbClr val="334155"/>
                </a:solidFill>
                <a:latin typeface="Pretendard"/>
              </a:rPr>
              <a:t>(</a:t>
            </a:r>
            <a:r>
              <a:rPr lang="en" altLang="ko-KR" sz="1200" dirty="0">
                <a:solidFill>
                  <a:srgbClr val="334155"/>
                </a:solidFill>
                <a:latin typeface="Pretendard"/>
              </a:rPr>
              <a:t>Gate 3)</a:t>
            </a:r>
            <a:r>
              <a:rPr lang="ko-KR" altLang="en-US" sz="1200" dirty="0" err="1">
                <a:solidFill>
                  <a:srgbClr val="334155"/>
                </a:solidFill>
                <a:latin typeface="Pretendard"/>
              </a:rPr>
              <a:t>를</a:t>
            </a:r>
            <a:r>
              <a:rPr lang="ko-KR" altLang="en-US" sz="1200" dirty="0">
                <a:solidFill>
                  <a:srgbClr val="334155"/>
                </a:solidFill>
                <a:latin typeface="Pretendard"/>
              </a:rPr>
              <a:t> </a:t>
            </a:r>
            <a:r>
              <a:rPr lang="ko-KR" altLang="en-US" sz="1200" b="1" dirty="0">
                <a:solidFill>
                  <a:srgbClr val="334155"/>
                </a:solidFill>
                <a:latin typeface="Pretendard"/>
              </a:rPr>
              <a:t>사전에 </a:t>
            </a:r>
            <a:r>
              <a:rPr lang="en-US" altLang="ko-KR" sz="1200" b="1" dirty="0">
                <a:solidFill>
                  <a:srgbClr val="334155"/>
                </a:solidFill>
                <a:latin typeface="Pretendard"/>
              </a:rPr>
              <a:t>3</a:t>
            </a:r>
            <a:r>
              <a:rPr lang="ko-KR" altLang="en-US" sz="1200" b="1" dirty="0">
                <a:solidFill>
                  <a:srgbClr val="334155"/>
                </a:solidFill>
                <a:latin typeface="Pretendard"/>
              </a:rPr>
              <a:t>중으로 차단하여 </a:t>
            </a:r>
            <a:r>
              <a:rPr lang="en-US" altLang="ko-KR" sz="1200" b="1" dirty="0">
                <a:solidFill>
                  <a:srgbClr val="334155"/>
                </a:solidFill>
                <a:latin typeface="Pretendard"/>
              </a:rPr>
              <a:t>100% </a:t>
            </a:r>
            <a:r>
              <a:rPr lang="ko-KR" altLang="en-US" sz="1200" b="1" dirty="0">
                <a:solidFill>
                  <a:srgbClr val="334155"/>
                </a:solidFill>
                <a:latin typeface="Pretendard"/>
              </a:rPr>
              <a:t>안전한 코칭을 보장</a:t>
            </a:r>
            <a:r>
              <a:rPr lang="ko-KR" altLang="en-US" sz="1200" dirty="0">
                <a:solidFill>
                  <a:srgbClr val="334155"/>
                </a:solidFill>
                <a:latin typeface="Pretendard"/>
              </a:rPr>
              <a:t>하기 위함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2395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lang="en-US" dirty="0"/>
              <a:t>Human-In-the-loop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780630" y="1396998"/>
            <a:ext cx="3676801" cy="4971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1377" y="1616455"/>
            <a:ext cx="3110023" cy="39087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1. [</a:t>
            </a:r>
            <a:r>
              <a:rPr lang="ko-KR" altLang="en-US" dirty="0"/>
              <a:t>사용자 입력</a:t>
            </a:r>
            <a:r>
              <a:rPr lang="en-US" altLang="ko-KR" dirty="0"/>
              <a:t>]       "</a:t>
            </a:r>
            <a:r>
              <a:rPr lang="ko-KR" altLang="en-US" dirty="0"/>
              <a:t>오늘 점심 닭가슴살 </a:t>
            </a:r>
            <a:r>
              <a:rPr lang="en-US" altLang="ko-KR" dirty="0"/>
              <a:t>100</a:t>
            </a:r>
            <a:r>
              <a:rPr lang="en" dirty="0"/>
              <a:t>g</a:t>
            </a:r>
            <a:r>
              <a:rPr lang="ko-KR" altLang="en-US" dirty="0"/>
              <a:t>이랑 사과 먹었어</a:t>
            </a:r>
            <a:r>
              <a:rPr lang="en-US" altLang="ko-KR" dirty="0"/>
              <a:t>!"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       ↓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2. [</a:t>
            </a:r>
            <a:r>
              <a:rPr lang="ko-KR" altLang="en-US" dirty="0"/>
              <a:t>도구 호출 </a:t>
            </a:r>
            <a:r>
              <a:rPr lang="en-US" altLang="ko-KR" dirty="0"/>
              <a:t>&amp; </a:t>
            </a:r>
            <a:r>
              <a:rPr lang="ko-KR" altLang="en-US" dirty="0"/>
              <a:t>분석</a:t>
            </a:r>
            <a:r>
              <a:rPr lang="en-US" altLang="ko-KR" dirty="0"/>
              <a:t>]   </a:t>
            </a:r>
            <a:r>
              <a:rPr lang="ko-KR" altLang="en-US" dirty="0" err="1"/>
              <a:t>식약처</a:t>
            </a:r>
            <a:r>
              <a:rPr lang="ko-KR" altLang="en-US" dirty="0"/>
              <a:t> </a:t>
            </a:r>
            <a:r>
              <a:rPr lang="en" dirty="0"/>
              <a:t>DB </a:t>
            </a:r>
            <a:r>
              <a:rPr lang="ko-KR" altLang="en-US" dirty="0"/>
              <a:t>조회 ➔ 닭가슴살 </a:t>
            </a:r>
            <a:r>
              <a:rPr lang="en-US" altLang="ko-KR" dirty="0"/>
              <a:t>135</a:t>
            </a:r>
            <a:r>
              <a:rPr lang="en" dirty="0"/>
              <a:t>kcal, </a:t>
            </a:r>
            <a:r>
              <a:rPr lang="ko-KR" altLang="en-US" dirty="0"/>
              <a:t>사과 </a:t>
            </a:r>
            <a:r>
              <a:rPr lang="en-US" altLang="ko-KR" dirty="0"/>
              <a:t>100</a:t>
            </a:r>
            <a:r>
              <a:rPr lang="en" dirty="0"/>
              <a:t>kcal </a:t>
            </a:r>
            <a:r>
              <a:rPr lang="ko-KR" altLang="en-US" dirty="0"/>
              <a:t>계산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ko-KR" altLang="en-US" dirty="0"/>
              <a:t>       ↓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3. [</a:t>
            </a:r>
            <a:r>
              <a:rPr lang="en" dirty="0"/>
              <a:t>Self-RAG </a:t>
            </a:r>
            <a:r>
              <a:rPr lang="ko-KR" altLang="en-US" dirty="0"/>
              <a:t>검증</a:t>
            </a:r>
            <a:r>
              <a:rPr lang="en-US" altLang="ko-KR" dirty="0"/>
              <a:t>]     </a:t>
            </a:r>
            <a:r>
              <a:rPr lang="ko-KR" altLang="en-US" dirty="0"/>
              <a:t>관련성</a:t>
            </a:r>
            <a:r>
              <a:rPr lang="en-US" altLang="ko-KR" dirty="0"/>
              <a:t>/</a:t>
            </a:r>
            <a:r>
              <a:rPr lang="ko-KR" altLang="en-US" dirty="0"/>
              <a:t>환각</a:t>
            </a:r>
            <a:r>
              <a:rPr lang="en-US" altLang="ko-KR" dirty="0"/>
              <a:t>/</a:t>
            </a:r>
            <a:r>
              <a:rPr lang="ko-KR" altLang="en-US" dirty="0"/>
              <a:t>안전성 </a:t>
            </a:r>
            <a:r>
              <a:rPr lang="en-US" altLang="ko-KR" dirty="0"/>
              <a:t>3</a:t>
            </a:r>
            <a:r>
              <a:rPr lang="ko-KR" altLang="en-US" dirty="0"/>
              <a:t>단계 통과 </a:t>
            </a:r>
            <a:r>
              <a:rPr lang="en-US" altLang="ko-KR" dirty="0"/>
              <a:t>(</a:t>
            </a:r>
            <a:r>
              <a:rPr lang="en" dirty="0"/>
              <a:t>ALL_GATES_PASSED: True)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dirty="0"/>
              <a:t>       ↓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" dirty="0"/>
              <a:t>4. </a:t>
            </a:r>
            <a:r>
              <a:rPr lang="ko-KR" altLang="en-US" dirty="0"/>
              <a:t>⭐ </a:t>
            </a:r>
            <a:r>
              <a:rPr lang="en-US" altLang="ko-KR" dirty="0"/>
              <a:t>[</a:t>
            </a:r>
            <a:r>
              <a:rPr lang="en" dirty="0"/>
              <a:t>Human-in-the-Loop </a:t>
            </a:r>
            <a:r>
              <a:rPr lang="ko-KR" altLang="en-US" dirty="0"/>
              <a:t>실행 시점</a:t>
            </a:r>
            <a:r>
              <a:rPr lang="en-US" altLang="ko-KR" dirty="0"/>
              <a:t>!]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   • </a:t>
            </a:r>
            <a:r>
              <a:rPr lang="ko-KR" altLang="en-US" dirty="0"/>
              <a:t>화면 하단에 </a:t>
            </a:r>
            <a:r>
              <a:rPr lang="en-US" altLang="ko-KR" dirty="0"/>
              <a:t>[</a:t>
            </a:r>
            <a:r>
              <a:rPr lang="ko-KR" altLang="en-US" dirty="0"/>
              <a:t>🍱 </a:t>
            </a:r>
            <a:r>
              <a:rPr lang="en-US" altLang="ko-KR" dirty="0"/>
              <a:t>235 </a:t>
            </a:r>
            <a:r>
              <a:rPr lang="en" dirty="0"/>
              <a:t>kcal </a:t>
            </a:r>
            <a:r>
              <a:rPr lang="ko-KR" altLang="en-US" dirty="0"/>
              <a:t>스마트 저장 카드</a:t>
            </a:r>
            <a:r>
              <a:rPr lang="en-US" altLang="ko-KR" dirty="0"/>
              <a:t>] </a:t>
            </a:r>
            <a:r>
              <a:rPr lang="ko-KR" altLang="en-US" dirty="0"/>
              <a:t>팝업 렌더링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ko-KR" altLang="en-US" dirty="0"/>
              <a:t>   </a:t>
            </a:r>
            <a:r>
              <a:rPr lang="en-US" altLang="ko-KR" dirty="0"/>
              <a:t>• </a:t>
            </a:r>
            <a:r>
              <a:rPr lang="ko-KR" altLang="en-US" dirty="0"/>
              <a:t>👤 사용자가 수치를 눈으로 확인하고 </a:t>
            </a:r>
            <a:r>
              <a:rPr lang="en-US" altLang="ko-KR" dirty="0"/>
              <a:t>[</a:t>
            </a:r>
            <a:r>
              <a:rPr lang="ko-KR" altLang="en-US" dirty="0"/>
              <a:t>✅ 저장하기</a:t>
            </a:r>
            <a:r>
              <a:rPr lang="en-US" altLang="ko-KR" dirty="0"/>
              <a:t>] </a:t>
            </a:r>
            <a:r>
              <a:rPr lang="ko-KR" altLang="en-US" dirty="0"/>
              <a:t>버튼 클릭</a:t>
            </a:r>
            <a:r>
              <a:rPr lang="en-US" altLang="ko-KR" dirty="0"/>
              <a:t>!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       ↓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5. [</a:t>
            </a:r>
            <a:r>
              <a:rPr lang="en" dirty="0"/>
              <a:t>DB </a:t>
            </a:r>
            <a:r>
              <a:rPr lang="ko-KR" altLang="en-US" dirty="0"/>
              <a:t>영속 저장</a:t>
            </a:r>
            <a:r>
              <a:rPr lang="en-US" altLang="ko-KR" dirty="0"/>
              <a:t>]       </a:t>
            </a:r>
            <a:r>
              <a:rPr lang="en" dirty="0"/>
              <a:t>SQLite </a:t>
            </a:r>
            <a:r>
              <a:rPr lang="ko-KR" altLang="en-US" dirty="0"/>
              <a:t>데이터베이스에 최종 기록 및 대시보드 게이지 갱신 </a:t>
            </a:r>
            <a:r>
              <a:rPr lang="en-US" altLang="ko-KR" dirty="0"/>
              <a:t>(</a:t>
            </a:r>
            <a:r>
              <a:rPr lang="en" dirty="0"/>
              <a:t>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정형 데이터 자동 추출 (Structured Data Extraction)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자연어 답변에서 정형 JSON 데이터를 완벽히 분리하여 사용자의 원클릭 DB 저장을 지원합니다.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BF7E9F4-8BF1-CFF5-AAA9-1329C2CE5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20510" cy="39978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41069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TROUBLESHOOTING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dirty="0" err="1"/>
              <a:t>트러블슈팅</a:t>
            </a:r>
            <a:r>
              <a:rPr lang="ko-KR" altLang="en-US" dirty="0"/>
              <a:t> </a:t>
            </a:r>
            <a:r>
              <a:rPr dirty="0"/>
              <a:t>: 503/429/404 </a:t>
            </a:r>
            <a:r>
              <a:rPr dirty="0" err="1"/>
              <a:t>다중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복원력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rPr dirty="0" err="1"/>
              <a:t>구글</a:t>
            </a:r>
            <a:r>
              <a:rPr dirty="0"/>
              <a:t> API </a:t>
            </a:r>
            <a:r>
              <a:rPr dirty="0" err="1"/>
              <a:t>과부하</a:t>
            </a:r>
            <a:r>
              <a:rPr dirty="0"/>
              <a:t>, </a:t>
            </a:r>
            <a:r>
              <a:rPr dirty="0" err="1"/>
              <a:t>속도</a:t>
            </a:r>
            <a:r>
              <a:rPr dirty="0"/>
              <a:t> </a:t>
            </a:r>
            <a:r>
              <a:rPr dirty="0" err="1"/>
              <a:t>제한</a:t>
            </a:r>
            <a:r>
              <a:rPr dirty="0"/>
              <a:t>, </a:t>
            </a:r>
            <a:r>
              <a:rPr dirty="0" err="1"/>
              <a:t>구모델</a:t>
            </a:r>
            <a:r>
              <a:rPr dirty="0"/>
              <a:t> </a:t>
            </a:r>
            <a:r>
              <a:rPr dirty="0" err="1"/>
              <a:t>폐기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4대 Flash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폴백</a:t>
            </a:r>
            <a:r>
              <a:rPr dirty="0"/>
              <a:t> </a:t>
            </a:r>
            <a:r>
              <a:rPr dirty="0" err="1"/>
              <a:t>구축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dirty="0"/>
              <a:t>🚨 3대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장애</a:t>
            </a:r>
            <a:r>
              <a:rPr dirty="0"/>
              <a:t> &amp; </a:t>
            </a:r>
            <a:r>
              <a:rPr dirty="0" err="1"/>
              <a:t>해결</a:t>
            </a:r>
            <a:r>
              <a:rPr dirty="0"/>
              <a:t> </a:t>
            </a:r>
            <a:r>
              <a:rPr dirty="0" err="1"/>
              <a:t>조치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Issue 1. `503 UNAVAILABLE` (</a:t>
            </a:r>
            <a:r>
              <a:rPr dirty="0" err="1"/>
              <a:t>일시</a:t>
            </a:r>
            <a:r>
              <a:rPr dirty="0"/>
              <a:t> </a:t>
            </a:r>
            <a:r>
              <a:rPr dirty="0" err="1"/>
              <a:t>과부하</a:t>
            </a:r>
            <a:r>
              <a:rPr dirty="0"/>
              <a:t>)</a:t>
            </a:r>
            <a:br>
              <a:rPr dirty="0"/>
            </a:br>
            <a:r>
              <a:rPr dirty="0"/>
              <a:t>  ➔ 4대 Flash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간</a:t>
            </a:r>
            <a:r>
              <a:rPr dirty="0"/>
              <a:t> `0.5초 </a:t>
            </a:r>
            <a:r>
              <a:rPr dirty="0" err="1"/>
              <a:t>무중단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폴백</a:t>
            </a:r>
            <a:r>
              <a:rPr dirty="0"/>
              <a:t>` </a:t>
            </a:r>
            <a:r>
              <a:rPr dirty="0" err="1"/>
              <a:t>구축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Issue 2. `429 RESOURCE_EXHAUSTED` (</a:t>
            </a:r>
            <a:r>
              <a:rPr dirty="0" err="1"/>
              <a:t>속도</a:t>
            </a:r>
            <a:r>
              <a:rPr dirty="0"/>
              <a:t> </a:t>
            </a:r>
            <a:r>
              <a:rPr dirty="0" err="1"/>
              <a:t>제한</a:t>
            </a:r>
            <a:r>
              <a:rPr dirty="0"/>
              <a:t>)</a:t>
            </a:r>
            <a:br>
              <a:rPr dirty="0"/>
            </a:br>
            <a:r>
              <a:rPr dirty="0"/>
              <a:t>  ➔ 1순위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넉넉한</a:t>
            </a:r>
            <a:r>
              <a:rPr dirty="0"/>
              <a:t> `gemini-3.5-flash-lite`로 </a:t>
            </a:r>
            <a:r>
              <a:rPr dirty="0" err="1"/>
              <a:t>재구성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dirty="0"/>
              <a:t>•  Issue 3. `404 NOT_FOUND` (</a:t>
            </a:r>
            <a:r>
              <a:rPr dirty="0" err="1"/>
              <a:t>구버전</a:t>
            </a:r>
            <a:r>
              <a:rPr dirty="0"/>
              <a:t> 2.5 </a:t>
            </a:r>
            <a:r>
              <a:rPr dirty="0" err="1"/>
              <a:t>폐기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)</a:t>
            </a:r>
            <a:br>
              <a:rPr dirty="0"/>
            </a:br>
            <a:r>
              <a:rPr dirty="0"/>
              <a:t>  ➔ </a:t>
            </a:r>
            <a:r>
              <a:rPr dirty="0" err="1"/>
              <a:t>폐기된</a:t>
            </a:r>
            <a:r>
              <a:rPr dirty="0"/>
              <a:t> </a:t>
            </a:r>
            <a:r>
              <a:rPr dirty="0" err="1"/>
              <a:t>구모델</a:t>
            </a:r>
            <a:r>
              <a:rPr dirty="0"/>
              <a:t> </a:t>
            </a:r>
            <a:r>
              <a:rPr dirty="0" err="1"/>
              <a:t>완전</a:t>
            </a:r>
            <a:r>
              <a:rPr dirty="0"/>
              <a:t> </a:t>
            </a:r>
            <a:r>
              <a:rPr dirty="0" err="1"/>
              <a:t>제거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3.5/3.6/3.7 </a:t>
            </a:r>
            <a:r>
              <a:rPr dirty="0" err="1"/>
              <a:t>최신화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dirty="0"/>
              <a:t>💡 </a:t>
            </a:r>
            <a:r>
              <a:rPr dirty="0" err="1"/>
              <a:t>고가용성</a:t>
            </a:r>
            <a:r>
              <a:rPr dirty="0"/>
              <a:t> </a:t>
            </a:r>
            <a:r>
              <a:rPr dirty="0" err="1"/>
              <a:t>복원력</a:t>
            </a:r>
            <a:r>
              <a:rPr dirty="0"/>
              <a:t> (Fault-Tolerant Resilience)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장애</a:t>
            </a:r>
            <a:r>
              <a:rPr dirty="0"/>
              <a:t> </a:t>
            </a:r>
            <a:r>
              <a:rPr dirty="0" err="1"/>
              <a:t>시에도</a:t>
            </a:r>
            <a:r>
              <a:rPr dirty="0"/>
              <a:t> `[3.5-flash-lite ➔ 3.6-flash ➔ 3.7-flash ➔ 3.5-flash]` </a:t>
            </a:r>
            <a:r>
              <a:rPr dirty="0" err="1"/>
              <a:t>캐스케이딩</a:t>
            </a:r>
            <a:r>
              <a:rPr dirty="0"/>
              <a:t> </a:t>
            </a:r>
            <a:r>
              <a:rPr dirty="0" err="1"/>
              <a:t>폴백으로</a:t>
            </a:r>
            <a:r>
              <a:rPr dirty="0"/>
              <a:t> </a:t>
            </a:r>
            <a:r>
              <a:rPr lang="ko-KR" altLang="en-US" dirty="0"/>
              <a:t>높은</a:t>
            </a:r>
            <a:r>
              <a:rPr dirty="0"/>
              <a:t> </a:t>
            </a:r>
            <a:r>
              <a:rPr dirty="0" err="1"/>
              <a:t>가용성을</a:t>
            </a:r>
            <a:r>
              <a:rPr dirty="0"/>
              <a:t> </a:t>
            </a:r>
            <a:r>
              <a:rPr dirty="0" err="1"/>
              <a:t>보장합니다</a:t>
            </a:r>
            <a:r>
              <a:rPr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1E4CD7B-61CA-A6D1-5253-8566DAB4A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25" y="3302024"/>
            <a:ext cx="5239512" cy="140713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CBE3753-C8EA-3E67-7329-735F3A857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68" y="1369870"/>
            <a:ext cx="4095127" cy="18243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86026-1D29-E68C-5A9A-517D1FEEB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F6F46E-DE84-E7BA-0158-4FA558F58590}"/>
              </a:ext>
            </a:extLst>
          </p:cNvPr>
          <p:cNvSpPr/>
          <p:nvPr/>
        </p:nvSpPr>
        <p:spPr>
          <a:xfrm>
            <a:off x="305" y="2770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B13B5-97B3-7064-941B-FC7B8189D24A}"/>
              </a:ext>
            </a:extLst>
          </p:cNvPr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TROUBLESHOOTING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67FAA-F827-1EDE-C204-A8F929C6A83B}"/>
              </a:ext>
            </a:extLst>
          </p:cNvPr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lang="ko-KR" altLang="en-US" dirty="0"/>
              <a:t>문제점 </a:t>
            </a:r>
            <a:r>
              <a:rPr lang="en-US" altLang="ko-KR" dirty="0"/>
              <a:t>/</a:t>
            </a:r>
            <a:r>
              <a:rPr lang="ko-KR" altLang="en-US" dirty="0"/>
              <a:t> 추가 보완사항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7DDF87-3067-592B-1B97-3D53BBF20A42}"/>
              </a:ext>
            </a:extLst>
          </p:cNvPr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65E1C-694A-0EE1-B16A-60DDF7FD3AF6}"/>
              </a:ext>
            </a:extLst>
          </p:cNvPr>
          <p:cNvSpPr txBox="1"/>
          <p:nvPr/>
        </p:nvSpPr>
        <p:spPr>
          <a:xfrm>
            <a:off x="987552" y="1819656"/>
            <a:ext cx="4718304" cy="728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•  </a:t>
            </a:r>
            <a:r>
              <a:rPr lang="ko-KR" altLang="ko-KR" sz="1500" dirty="0">
                <a:solidFill>
                  <a:srgbClr val="0F172A"/>
                </a:solidFill>
                <a:latin typeface="Pretendard"/>
              </a:rPr>
              <a:t>사진 속 음식 분석 및 영양 DB 조회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 속도가 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‘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너무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’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 느림</a:t>
            </a:r>
            <a:endParaRPr lang="ko-KR" altLang="en-US"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•  </a:t>
            </a:r>
            <a:r>
              <a:rPr lang="ko-KR" altLang="en-US" dirty="0"/>
              <a:t>이미지를 인식하고 </a:t>
            </a:r>
            <a:r>
              <a:rPr lang="en-US" altLang="ko-KR" dirty="0"/>
              <a:t>rag </a:t>
            </a:r>
            <a:r>
              <a:rPr lang="ko-KR" altLang="en-US" dirty="0"/>
              <a:t>과정 루프를 타는 순간 문서 </a:t>
            </a:r>
            <a:r>
              <a:rPr lang="en-US" altLang="ko-KR" dirty="0" err="1"/>
              <a:t>db</a:t>
            </a:r>
            <a:r>
              <a:rPr lang="ko-KR" altLang="en-US" dirty="0"/>
              <a:t>가 많은 문제 때문인지</a:t>
            </a:r>
            <a:r>
              <a:rPr lang="en-US" altLang="ko-KR" dirty="0"/>
              <a:t>,</a:t>
            </a:r>
            <a:r>
              <a:rPr lang="ko-KR" altLang="en-US" dirty="0"/>
              <a:t> 이미지 분석하는데 너무 </a:t>
            </a:r>
            <a:r>
              <a:rPr lang="ko-KR" altLang="en-US" dirty="0" err="1"/>
              <a:t>오래걸림</a:t>
            </a:r>
            <a:r>
              <a:rPr lang="en-US" altLang="ko-KR" dirty="0"/>
              <a:t>.</a:t>
            </a:r>
            <a:r>
              <a:rPr lang="ko-KR" altLang="en-US" dirty="0"/>
              <a:t> 메타 데이터로 전환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54E429-5B9F-A0F7-3ADC-5912DBA4D8BE}"/>
              </a:ext>
            </a:extLst>
          </p:cNvPr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2F45FF4-825C-114B-B689-4CFAB1F46934}"/>
              </a:ext>
            </a:extLst>
          </p:cNvPr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5874E-9B94-C2DE-5FCB-5B6A8514F877}"/>
              </a:ext>
            </a:extLst>
          </p:cNvPr>
          <p:cNvSpPr txBox="1"/>
          <p:nvPr/>
        </p:nvSpPr>
        <p:spPr>
          <a:xfrm>
            <a:off x="987552" y="2724719"/>
            <a:ext cx="4718304" cy="728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•  </a:t>
            </a:r>
            <a:r>
              <a:rPr lang="en-US" altLang="ko-KR" sz="1500" dirty="0" err="1">
                <a:solidFill>
                  <a:srgbClr val="0F172A"/>
                </a:solidFill>
                <a:latin typeface="Pretendard"/>
              </a:rPr>
              <a:t>gemini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 </a:t>
            </a:r>
            <a:r>
              <a:rPr lang="en-US" altLang="ko-KR" sz="1500" dirty="0" err="1">
                <a:solidFill>
                  <a:srgbClr val="0F172A"/>
                </a:solidFill>
                <a:latin typeface="Pretendard"/>
              </a:rPr>
              <a:t>api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 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버전별 호출의 문제성</a:t>
            </a:r>
            <a:endParaRPr lang="ko-KR" altLang="en-US" dirty="0"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rPr lang="en-US" altLang="ko-KR" dirty="0"/>
              <a:t>•  </a:t>
            </a:r>
            <a:r>
              <a:rPr lang="ko-KR" altLang="en-US" dirty="0"/>
              <a:t>제미나이 무료버전 </a:t>
            </a:r>
            <a:r>
              <a:rPr lang="ko-KR" altLang="en-US" dirty="0" err="1"/>
              <a:t>이용량</a:t>
            </a:r>
            <a:r>
              <a:rPr lang="ko-KR" altLang="en-US" dirty="0"/>
              <a:t> 한도가 걸려</a:t>
            </a:r>
            <a:r>
              <a:rPr lang="en-US" altLang="ko-KR" dirty="0"/>
              <a:t>,</a:t>
            </a:r>
            <a:r>
              <a:rPr lang="ko-KR" altLang="en-US" dirty="0"/>
              <a:t> 빈번하게 다른 버전의 </a:t>
            </a:r>
            <a:r>
              <a:rPr lang="ko-KR" altLang="en-US" dirty="0" err="1"/>
              <a:t>제미나이를</a:t>
            </a:r>
            <a:r>
              <a:rPr lang="ko-KR" altLang="en-US" dirty="0"/>
              <a:t> </a:t>
            </a:r>
            <a:r>
              <a:rPr lang="ko-KR" altLang="en-US" dirty="0" err="1"/>
              <a:t>호출하게되면서</a:t>
            </a:r>
            <a:r>
              <a:rPr lang="en-US" altLang="ko-KR" dirty="0"/>
              <a:t>,</a:t>
            </a:r>
            <a:r>
              <a:rPr lang="ko-KR" altLang="en-US" dirty="0"/>
              <a:t> 속도가 지연됨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2F361B-869F-CFB4-28FC-DE3E84647C16}"/>
              </a:ext>
            </a:extLst>
          </p:cNvPr>
          <p:cNvSpPr txBox="1"/>
          <p:nvPr/>
        </p:nvSpPr>
        <p:spPr>
          <a:xfrm>
            <a:off x="6483096" y="1819655"/>
            <a:ext cx="4718304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•  </a:t>
            </a:r>
            <a:r>
              <a:rPr lang="ko-KR" altLang="en-US" sz="1500" dirty="0" err="1">
                <a:solidFill>
                  <a:srgbClr val="0F172A"/>
                </a:solidFill>
                <a:latin typeface="Pretendard"/>
              </a:rPr>
              <a:t>대쉬보드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,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 단백질 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/ 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칼로리뿐만 아닌 탄수화물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,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 나트륨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,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 당 등 대표적인 영양성분 추가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0EEA94-1CD8-C956-3DB6-B7B5F3D68883}"/>
              </a:ext>
            </a:extLst>
          </p:cNvPr>
          <p:cNvSpPr txBox="1"/>
          <p:nvPr/>
        </p:nvSpPr>
        <p:spPr>
          <a:xfrm>
            <a:off x="6483096" y="2642443"/>
            <a:ext cx="4718304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•  </a:t>
            </a:r>
            <a:r>
              <a:rPr lang="ko-KR" altLang="en-US" sz="1500" dirty="0" err="1">
                <a:solidFill>
                  <a:srgbClr val="0F172A"/>
                </a:solidFill>
                <a:latin typeface="Pretendard"/>
              </a:rPr>
              <a:t>텔레그램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 봇 연동을 통한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 monthly 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리포팅 기능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BBA1FE-42CB-2E75-53B5-127582DAACC6}"/>
              </a:ext>
            </a:extLst>
          </p:cNvPr>
          <p:cNvSpPr txBox="1"/>
          <p:nvPr/>
        </p:nvSpPr>
        <p:spPr>
          <a:xfrm>
            <a:off x="987552" y="3664767"/>
            <a:ext cx="4718304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•</a:t>
            </a:r>
            <a:r>
              <a:rPr lang="ko-KR" altLang="en-US" dirty="0"/>
              <a:t> 운동 부분에서 키</a:t>
            </a:r>
            <a:r>
              <a:rPr lang="en-US" altLang="ko-KR" dirty="0"/>
              <a:t>/</a:t>
            </a:r>
            <a:r>
              <a:rPr lang="ko-KR" altLang="en-US" dirty="0"/>
              <a:t> 몸무게 등 기본정보로만 측정이 </a:t>
            </a:r>
            <a:r>
              <a:rPr lang="ko-KR" altLang="en-US" dirty="0" err="1"/>
              <a:t>되기때문에</a:t>
            </a:r>
            <a:r>
              <a:rPr lang="ko-KR" altLang="en-US" dirty="0"/>
              <a:t> 근력 등 디테일한 내용이 미포함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AFD15-BA06-B8EE-1002-51A0EB6D96D8}"/>
              </a:ext>
            </a:extLst>
          </p:cNvPr>
          <p:cNvSpPr txBox="1"/>
          <p:nvPr/>
        </p:nvSpPr>
        <p:spPr>
          <a:xfrm>
            <a:off x="960120" y="5056632"/>
            <a:ext cx="10268712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dirty="0"/>
              <a:t>💡</a:t>
            </a:r>
            <a:r>
              <a:rPr lang="ko-KR" altLang="en-US" dirty="0"/>
              <a:t> 질문 </a:t>
            </a:r>
            <a:r>
              <a:rPr lang="en-US" altLang="ko-KR" dirty="0"/>
              <a:t>/</a:t>
            </a:r>
            <a:r>
              <a:rPr lang="ko-KR" altLang="en-US" dirty="0"/>
              <a:t> 답변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F9FB65-CF14-3538-38DD-925B5FA7384D}"/>
              </a:ext>
            </a:extLst>
          </p:cNvPr>
          <p:cNvSpPr txBox="1"/>
          <p:nvPr/>
        </p:nvSpPr>
        <p:spPr>
          <a:xfrm>
            <a:off x="6483096" y="3429000"/>
            <a:ext cx="4718304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rPr lang="en-US" altLang="ko-KR" dirty="0"/>
              <a:t>•  LLM-as-a-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Judge : 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고성능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/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타 회사 </a:t>
            </a:r>
            <a:r>
              <a:rPr lang="en-US" altLang="ko-KR" sz="1500" dirty="0">
                <a:solidFill>
                  <a:srgbClr val="0F172A"/>
                </a:solidFill>
                <a:latin typeface="Pretendard"/>
              </a:rPr>
              <a:t>LLM </a:t>
            </a:r>
            <a:r>
              <a:rPr lang="ko-KR" altLang="en-US" sz="1500" dirty="0">
                <a:solidFill>
                  <a:srgbClr val="0F172A"/>
                </a:solidFill>
                <a:latin typeface="Pretendard"/>
              </a:rPr>
              <a:t>모델을 활용하여 검증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5756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3EEB-8844-9C6E-3B1F-21D569B4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7CCE4A-34C8-6793-2732-B49966F660F4}"/>
              </a:ext>
            </a:extLst>
          </p:cNvPr>
          <p:cNvSpPr/>
          <p:nvPr/>
        </p:nvSpPr>
        <p:spPr>
          <a:xfrm>
            <a:off x="305" y="27709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FC352-B38D-BFAB-61EF-D2F5111E489C}"/>
              </a:ext>
            </a:extLst>
          </p:cNvPr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TROUBLESHOOTING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EC2CC-7EDF-685F-5450-F13F2426B186}"/>
              </a:ext>
            </a:extLst>
          </p:cNvPr>
          <p:cNvSpPr txBox="1"/>
          <p:nvPr/>
        </p:nvSpPr>
        <p:spPr>
          <a:xfrm>
            <a:off x="731520" y="68580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/</a:t>
            </a:r>
            <a:r>
              <a:rPr lang="ko-KR" altLang="en-US" dirty="0"/>
              <a:t> 답변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A97454A-05AC-957A-384D-413D97F13245}"/>
              </a:ext>
            </a:extLst>
          </p:cNvPr>
          <p:cNvSpPr/>
          <p:nvPr/>
        </p:nvSpPr>
        <p:spPr>
          <a:xfrm>
            <a:off x="731520" y="1298674"/>
            <a:ext cx="10725912" cy="5147846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BB00B6-C4D7-62DF-3AF8-419710F9012F}"/>
              </a:ext>
            </a:extLst>
          </p:cNvPr>
          <p:cNvSpPr txBox="1"/>
          <p:nvPr/>
        </p:nvSpPr>
        <p:spPr>
          <a:xfrm>
            <a:off x="960120" y="1872699"/>
            <a:ext cx="10268712" cy="3885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lang="ko-KR" altLang="en-US" dirty="0"/>
              <a:t>💡</a:t>
            </a:r>
            <a:endParaRPr lang="en-US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endParaRPr lang="en-US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lang="ko-KR" altLang="en-US" dirty="0"/>
              <a:t>💡</a:t>
            </a:r>
            <a:endParaRPr lang="en-US" altLang="ko-KR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endParaRPr lang="en-US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lang="ko-KR" altLang="en-US" dirty="0"/>
              <a:t>💡</a:t>
            </a:r>
            <a:endParaRPr lang="en-US" altLang="ko-KR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endParaRPr lang="en-US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lang="ko-KR" altLang="en-US" dirty="0"/>
              <a:t>💡</a:t>
            </a:r>
            <a:endParaRPr lang="en-US" altLang="ko-KR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endParaRPr lang="en-US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lang="ko-KR" altLang="en-US" dirty="0"/>
              <a:t>💡</a:t>
            </a:r>
            <a:endParaRPr lang="en-US" altLang="ko-KR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endParaRPr lang="en-US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lang="ko-KR" altLang="en-US" dirty="0"/>
              <a:t>💡</a:t>
            </a:r>
            <a:endParaRPr lang="en-US" altLang="ko-KR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endParaRPr lang="en-US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lang="ko-KR" altLang="en-US" dirty="0"/>
              <a:t>💡</a:t>
            </a:r>
            <a:endParaRPr lang="en-US" altLang="ko-KR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endParaRPr lang="en-US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lang="ko-KR" altLang="en-US" dirty="0"/>
              <a:t>💡</a:t>
            </a:r>
            <a:endParaRPr lang="en-US" altLang="ko-KR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endParaRPr lang="en-US" dirty="0"/>
          </a:p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rPr lang="ko-KR" altLang="en-US" dirty="0"/>
              <a:t>💡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2684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1352</Words>
  <Application>Microsoft Macintosh PowerPoint</Application>
  <PresentationFormat>와이드스크린</PresentationFormat>
  <Paragraphs>153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남섭 김</cp:lastModifiedBy>
  <cp:revision>35</cp:revision>
  <dcterms:created xsi:type="dcterms:W3CDTF">2013-01-27T09:14:16Z</dcterms:created>
  <dcterms:modified xsi:type="dcterms:W3CDTF">2026-08-30T10:55:09Z</dcterms:modified>
  <cp:category/>
</cp:coreProperties>
</file>